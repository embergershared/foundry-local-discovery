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embeddedFontLst>
    <p:embeddedFont>
      <p:font typeface="JetBrains Mono" panose="02000009000000000000" pitchFamily="49" charset="0"/>
      <p:regular r:id="rId18"/>
      <p:bold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font" Target="fonts/font1.fntdata"/><Relationship Id="rId19"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customer’s requirement, not the product: their data and AI must stay in their own datacenter, possibly disconnected. Foundry Local is the AI inference layer for the Azure Local they already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AI use cases are blocked today because the data can’t leave?” Let them pick the pain that matters most, then spend the demo on that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line to land. If they remember one sentence, it should be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Sovereignty is why they buy; the Arc operating model is why ops says yes; developer continuity is why the app team says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line for later: “Pick where each workload runs by its data rules, not by rewriting code.” The middle box is today’s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top to bottom: Arc installs the operator; each ModelDeployment becomes model pods on GPU nodes; everything sits behind one OpenAI-compatible endpoint (port 5000). Then point at the dashed arrow: the only change from the workstation prototype to production is the base URL. Say: “AI becomes one more Arc extension on the Azure Local you already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there’s a live lab cluster, show the Arc extension in the portal, run kubectl get modeldeployment -n foundry-local-operator, and call the endpoint. If not, walk this YAML. Say: “One YAML file per model. Your platform team runs it like any Kubernetes workload.” Docs note GPU deployments can take 10–30 minutes to reach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 min total, slides included): 7–10 min workstation — foundry model list --filter device=GPU, then foundry model run phi-4-mini. 10–12 min Wi-Fi off, second prompt; pause and let it land. 12–15 min run local_chat.py, show the one changed line. 15–21 min the cluster, live or the YAML walk-through. 21–25 min close on the continuum. Fallbacks: gpt-oss-20b won’t load on the PC → use qwen2.5-7b; service error → foundry service restart; a model starts downloading → switch to one from foundry cache list; no lab cluster → deployment slide plus a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in reserve; bring it up only if the questions come. For “Is it production-ready?”,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 about the preview status — it builds trust. Check the customer’s preview access with the product team before the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line: “Pick where each workload runs by its data rules, not by rewriting code.” Leave with a date for the hands-on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7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1"/>
            <a:ext cx="10566401" cy="447040"/>
          </a:xfrm>
          <a:prstGeom prst="rect">
            <a:avLst/>
          </a:prstGeom>
          <a:noFill/>
          <a:ln/>
        </p:spPr>
        <p:txBody>
          <a:bodyPr wrap="square" lIns="0" tIns="0" rIns="0" bIns="0" rtlCol="0" anchor="t"/>
          <a:lstStyle>
            <a:lvl1pPr algn="l" indent="0" marL="0">
              <a:lnSpc>
                <a:spcPct val="115000"/>
              </a:lnSpc>
              <a:buNone/>
              <a:defRPr lang="en-US" sz="3200" dirty="0">
                <a:solidFill>
                  <a:srgbClr val="0F1B2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601"/>
            <a:ext cx="10566400" cy="4165599"/>
          </a:xfrm>
          <a:prstGeom prst="rect">
            <a:avLst/>
          </a:prstGeom>
          <a:noFill/>
          <a:ln/>
        </p:spPr>
        <p:txBody>
          <a:bodyPr wrap="square" lIns="0" tIns="0" rIns="0" bIns="0" rtlCol="0" anchor="t"/>
          <a:lstStyle>
            <a:lvl1pPr algn="l" indent="0" marL="0">
              <a:lnSpc>
                <a:spcPct val="140000"/>
              </a:lnSpc>
              <a:buNone/>
              <a:defRPr lang="en-US" sz="1600" dirty="0">
                <a:solidFill>
                  <a:srgbClr val="0F1B2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7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1"/>
            <a:ext cx="10566401" cy="447040"/>
          </a:xfrm>
          <a:prstGeom prst="rect">
            <a:avLst/>
          </a:prstGeom>
          <a:noFill/>
          <a:ln/>
        </p:spPr>
        <p:txBody>
          <a:bodyPr wrap="square" lIns="0" tIns="0" rIns="0" bIns="0" rtlCol="0" anchor="t"/>
          <a:lstStyle>
            <a:lvl1pPr algn="l" indent="0" marL="0">
              <a:lnSpc>
                <a:spcPct val="115000"/>
              </a:lnSpc>
              <a:buNone/>
              <a:defRPr lang="en-US" sz="3200" dirty="0">
                <a:solidFill>
                  <a:srgbClr val="0F1B2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601"/>
            <a:ext cx="10566400" cy="4165599"/>
          </a:xfrm>
          <a:prstGeom prst="rect">
            <a:avLst/>
          </a:prstGeom>
          <a:noFill/>
          <a:ln/>
        </p:spPr>
        <p:txBody>
          <a:bodyPr wrap="square" lIns="0" tIns="0" rIns="0" bIns="0" rtlCol="0" anchor="t"/>
          <a:lstStyle>
            <a:lvl1pPr algn="l" indent="0" marL="0">
              <a:lnSpc>
                <a:spcPct val="140000"/>
              </a:lnSpc>
              <a:buNone/>
              <a:defRPr lang="en-US" sz="1600" dirty="0">
                <a:solidFill>
                  <a:srgbClr val="0F1B2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2F6FEB"/>
          </a:solidFill>
          <a:ln/>
        </p:spPr>
      </p:sp>
      <p:sp>
        <p:nvSpPr>
          <p:cNvPr id="3" name="Text 1"/>
          <p:cNvSpPr/>
          <p:nvPr/>
        </p:nvSpPr>
        <p:spPr>
          <a:xfrm>
            <a:off x="812800" y="2311400"/>
            <a:ext cx="10883393" cy="292100"/>
          </a:xfrm>
          <a:prstGeom prst="rect">
            <a:avLst/>
          </a:prstGeom>
          <a:noFill/>
          <a:ln/>
        </p:spPr>
        <p:txBody>
          <a:bodyPr wrap="square" lIns="0" tIns="0" rIns="0" bIns="0" rtlCol="0" anchor="t">
            <a:normAutofit/>
          </a:bodyPr>
          <a:lstStyle/>
          <a:p>
            <a:pPr algn="l" indent="0" marL="0">
              <a:lnSpc>
                <a:spcPts val="2100"/>
              </a:lnSpc>
              <a:buNone/>
            </a:pPr>
            <a:r>
              <a:rPr lang="en-US" sz="1500" b="1" spc="200" kern="0" dirty="0">
                <a:solidFill>
                  <a:srgbClr val="7FA8F5"/>
                </a:solidFill>
                <a:latin typeface="IBM Plex Sans" pitchFamily="34" charset="0"/>
                <a:ea typeface="IBM Plex Sans" pitchFamily="34" charset="-122"/>
                <a:cs typeface="IBM Plex Sans" pitchFamily="34" charset="-120"/>
              </a:rPr>
              <a:t>MICROSOFT FOUNDRY · AZURE LOCAL</a:t>
            </a:r>
            <a:endParaRPr lang="en-US" sz="1500" dirty="0"/>
          </a:p>
        </p:txBody>
      </p:sp>
      <p:sp>
        <p:nvSpPr>
          <p:cNvPr id="4" name="Text 2"/>
          <p:cNvSpPr/>
          <p:nvPr>
            <p:ph type="title"/>
          </p:nvPr>
        </p:nvSpPr>
        <p:spPr>
          <a:xfrm>
            <a:off x="812800" y="2832100"/>
            <a:ext cx="11379200"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6F7F4"/>
                </a:solidFill>
                <a:latin typeface="IBM Plex Sans" pitchFamily="34" charset="0"/>
                <a:ea typeface="IBM Plex Sans" pitchFamily="34" charset="-122"/>
                <a:cs typeface="IBM Plex Sans" pitchFamily="34" charset="-120"/>
              </a:rPr>
              <a:t>Foundry Local on Azure Local</a:t>
            </a:r>
            <a:endParaRPr lang="en-US" sz="6000" dirty="0"/>
          </a:p>
        </p:txBody>
      </p:sp>
      <p:sp>
        <p:nvSpPr>
          <p:cNvPr id="5" name="Text 3"/>
          <p:cNvSpPr/>
          <p:nvPr/>
        </p:nvSpPr>
        <p:spPr>
          <a:xfrm>
            <a:off x="812800" y="3886200"/>
            <a:ext cx="8502651"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BFCBDA"/>
                </a:solidFill>
                <a:latin typeface="IBM Plex Sans" pitchFamily="34" charset="0"/>
                <a:ea typeface="IBM Plex Sans" pitchFamily="34" charset="-122"/>
                <a:cs typeface="IBM Plex Sans" pitchFamily="34" charset="-120"/>
              </a:rPr>
              <a:t>Sovereign AI inference on the infrastructure you already run, governed through Azure Arc</a:t>
            </a:r>
            <a:endParaRPr lang="en-US" sz="2000" dirty="0"/>
          </a:p>
        </p:txBody>
      </p:sp>
      <p:sp>
        <p:nvSpPr>
          <p:cNvPr id="6" name="Text 4"/>
          <p:cNvSpPr/>
          <p:nvPr/>
        </p:nvSpPr>
        <p:spPr>
          <a:xfrm>
            <a:off x="812800" y="6035040"/>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AB0"/>
                </a:solidFill>
                <a:latin typeface="IBM Plex Sans" pitchFamily="34" charset="0"/>
                <a:ea typeface="IBM Plex Sans" pitchFamily="34" charset="-122"/>
                <a:cs typeface="IBM Plex Sans" pitchFamily="34" charset="-120"/>
              </a:rPr>
              <a:t>Customer conversation and demo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1"/>
            <a:ext cx="10883393"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EB"/>
                </a:solidFill>
                <a:latin typeface="IBM Plex Sans" pitchFamily="34" charset="0"/>
                <a:ea typeface="IBM Plex Sans" pitchFamily="34" charset="-122"/>
                <a:cs typeface="IBM Plex Sans" pitchFamily="34" charset="-120"/>
              </a:rPr>
              <a:t>THE PROBLEM</a:t>
            </a:r>
            <a:endParaRPr lang="en-US" sz="1200" dirty="0"/>
          </a:p>
        </p:txBody>
      </p:sp>
      <p:sp>
        <p:nvSpPr>
          <p:cNvPr id="3" name="Text 1"/>
          <p:cNvSpPr/>
          <p:nvPr>
            <p:ph type="title"/>
          </p:nvPr>
        </p:nvSpPr>
        <p:spPr>
          <a:xfrm>
            <a:off x="812800" y="1127761"/>
            <a:ext cx="10883393"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Why AI stalls in regulated environments</a:t>
            </a:r>
            <a:endParaRPr lang="en-US" sz="3200" dirty="0"/>
          </a:p>
        </p:txBody>
      </p:sp>
      <p:sp>
        <p:nvSpPr>
          <p:cNvPr id="4" name="Shape 2"/>
          <p:cNvSpPr/>
          <p:nvPr/>
        </p:nvSpPr>
        <p:spPr>
          <a:xfrm>
            <a:off x="815975" y="1933576"/>
            <a:ext cx="3380317" cy="1189143"/>
          </a:xfrm>
          <a:prstGeom prst="roundRect">
            <a:avLst>
              <a:gd name="adj" fmla="val 8277"/>
            </a:avLst>
          </a:prstGeom>
          <a:solidFill>
            <a:srgbClr val="FFFFFF"/>
          </a:solidFill>
          <a:ln w="6350">
            <a:solidFill>
              <a:srgbClr val="DDE2E8"/>
            </a:solidFill>
            <a:prstDash val="solid"/>
          </a:ln>
        </p:spPr>
      </p:sp>
      <p:sp>
        <p:nvSpPr>
          <p:cNvPr id="5" name="Text 3"/>
          <p:cNvSpPr/>
          <p:nvPr/>
        </p:nvSpPr>
        <p:spPr>
          <a:xfrm>
            <a:off x="1044787" y="2162387"/>
            <a:ext cx="301037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1B2D"/>
                </a:solidFill>
                <a:latin typeface="IBM Plex Sans" pitchFamily="34" charset="0"/>
                <a:ea typeface="IBM Plex Sans" pitchFamily="34" charset="-122"/>
                <a:cs typeface="IBM Plex Sans" pitchFamily="34" charset="-120"/>
              </a:rPr>
              <a:t>Data can’t leave</a:t>
            </a:r>
            <a:endParaRPr lang="en-US" sz="1500" dirty="0"/>
          </a:p>
        </p:txBody>
      </p:sp>
      <p:sp>
        <p:nvSpPr>
          <p:cNvPr id="6" name="Text 4"/>
          <p:cNvSpPr/>
          <p:nvPr/>
        </p:nvSpPr>
        <p:spPr>
          <a:xfrm>
            <a:off x="1044787" y="2467187"/>
            <a:ext cx="301037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Models run on customer-controlled hardware in their own datacenter</a:t>
            </a:r>
            <a:endParaRPr lang="en-US" sz="1200" dirty="0"/>
          </a:p>
        </p:txBody>
      </p:sp>
      <p:sp>
        <p:nvSpPr>
          <p:cNvPr id="7" name="Shape 5"/>
          <p:cNvSpPr/>
          <p:nvPr/>
        </p:nvSpPr>
        <p:spPr>
          <a:xfrm>
            <a:off x="4405842" y="1933576"/>
            <a:ext cx="3380317" cy="1189143"/>
          </a:xfrm>
          <a:prstGeom prst="roundRect">
            <a:avLst>
              <a:gd name="adj" fmla="val 8277"/>
            </a:avLst>
          </a:prstGeom>
          <a:solidFill>
            <a:srgbClr val="FFFFFF"/>
          </a:solidFill>
          <a:ln w="6350">
            <a:solidFill>
              <a:srgbClr val="DDE2E8"/>
            </a:solidFill>
            <a:prstDash val="solid"/>
          </a:ln>
        </p:spPr>
      </p:sp>
      <p:sp>
        <p:nvSpPr>
          <p:cNvPr id="8" name="Text 6"/>
          <p:cNvSpPr/>
          <p:nvPr/>
        </p:nvSpPr>
        <p:spPr>
          <a:xfrm>
            <a:off x="4634654" y="2162387"/>
            <a:ext cx="301037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1B2D"/>
                </a:solidFill>
                <a:latin typeface="IBM Plex Sans" pitchFamily="34" charset="0"/>
                <a:ea typeface="IBM Plex Sans" pitchFamily="34" charset="-122"/>
                <a:cs typeface="IBM Plex Sans" pitchFamily="34" charset="-120"/>
              </a:rPr>
              <a:t>Air-gapped sites</a:t>
            </a:r>
            <a:endParaRPr lang="en-US" sz="1500" dirty="0"/>
          </a:p>
        </p:txBody>
      </p:sp>
      <p:sp>
        <p:nvSpPr>
          <p:cNvPr id="9" name="Text 7"/>
          <p:cNvSpPr/>
          <p:nvPr/>
        </p:nvSpPr>
        <p:spPr>
          <a:xfrm>
            <a:off x="4634654" y="2467187"/>
            <a:ext cx="301037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Disconnected deployment, with local Active Directory instead of public Entra ID</a:t>
            </a:r>
            <a:endParaRPr lang="en-US" sz="1200" dirty="0"/>
          </a:p>
        </p:txBody>
      </p:sp>
      <p:sp>
        <p:nvSpPr>
          <p:cNvPr id="10" name="Shape 8"/>
          <p:cNvSpPr/>
          <p:nvPr/>
        </p:nvSpPr>
        <p:spPr>
          <a:xfrm>
            <a:off x="7995709" y="1933576"/>
            <a:ext cx="3380317" cy="1189143"/>
          </a:xfrm>
          <a:prstGeom prst="roundRect">
            <a:avLst>
              <a:gd name="adj" fmla="val 8277"/>
            </a:avLst>
          </a:prstGeom>
          <a:solidFill>
            <a:srgbClr val="FFFFFF"/>
          </a:solidFill>
          <a:ln w="6350">
            <a:solidFill>
              <a:srgbClr val="DDE2E8"/>
            </a:solidFill>
            <a:prstDash val="solid"/>
          </a:ln>
        </p:spPr>
      </p:sp>
      <p:sp>
        <p:nvSpPr>
          <p:cNvPr id="11" name="Text 9"/>
          <p:cNvSpPr/>
          <p:nvPr/>
        </p:nvSpPr>
        <p:spPr>
          <a:xfrm>
            <a:off x="8224520" y="2162387"/>
            <a:ext cx="301037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1B2D"/>
                </a:solidFill>
                <a:latin typeface="IBM Plex Sans" pitchFamily="34" charset="0"/>
                <a:ea typeface="IBM Plex Sans" pitchFamily="34" charset="-122"/>
                <a:cs typeface="IBM Plex Sans" pitchFamily="34" charset="-120"/>
              </a:rPr>
              <a:t>No AI story yet</a:t>
            </a:r>
            <a:endParaRPr lang="en-US" sz="1500" dirty="0"/>
          </a:p>
        </p:txBody>
      </p:sp>
      <p:sp>
        <p:nvSpPr>
          <p:cNvPr id="12" name="Text 10"/>
          <p:cNvSpPr/>
          <p:nvPr/>
        </p:nvSpPr>
        <p:spPr>
          <a:xfrm>
            <a:off x="8224520" y="2467187"/>
            <a:ext cx="301037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Adds as an Azure Arc extension on the AKS Arc cluster already in place</a:t>
            </a:r>
            <a:endParaRPr lang="en-US" sz="1200" dirty="0"/>
          </a:p>
        </p:txBody>
      </p:sp>
      <p:sp>
        <p:nvSpPr>
          <p:cNvPr id="13" name="Shape 11"/>
          <p:cNvSpPr/>
          <p:nvPr/>
        </p:nvSpPr>
        <p:spPr>
          <a:xfrm>
            <a:off x="815975" y="3332269"/>
            <a:ext cx="3380317" cy="1189143"/>
          </a:xfrm>
          <a:prstGeom prst="roundRect">
            <a:avLst>
              <a:gd name="adj" fmla="val 8277"/>
            </a:avLst>
          </a:prstGeom>
          <a:solidFill>
            <a:srgbClr val="FFFFFF"/>
          </a:solidFill>
          <a:ln w="6350">
            <a:solidFill>
              <a:srgbClr val="DDE2E8"/>
            </a:solidFill>
            <a:prstDash val="solid"/>
          </a:ln>
        </p:spPr>
      </p:sp>
      <p:sp>
        <p:nvSpPr>
          <p:cNvPr id="14" name="Text 12"/>
          <p:cNvSpPr/>
          <p:nvPr/>
        </p:nvSpPr>
        <p:spPr>
          <a:xfrm>
            <a:off x="1044787" y="3561080"/>
            <a:ext cx="301037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1B2D"/>
                </a:solidFill>
                <a:latin typeface="IBM Plex Sans" pitchFamily="34" charset="0"/>
                <a:ea typeface="IBM Plex Sans" pitchFamily="34" charset="-122"/>
                <a:cs typeface="IBM Plex Sans" pitchFamily="34" charset="-120"/>
              </a:rPr>
              <a:t>Ops wants Kubernetes</a:t>
            </a:r>
            <a:endParaRPr lang="en-US" sz="1500" dirty="0"/>
          </a:p>
        </p:txBody>
      </p:sp>
      <p:sp>
        <p:nvSpPr>
          <p:cNvPr id="15" name="Text 13"/>
          <p:cNvSpPr/>
          <p:nvPr/>
        </p:nvSpPr>
        <p:spPr>
          <a:xfrm>
            <a:off x="1044787" y="3865880"/>
            <a:ext cx="301037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An operator caches, deploys and serves models, across multiple nodes</a:t>
            </a:r>
            <a:endParaRPr lang="en-US" sz="1200" dirty="0"/>
          </a:p>
        </p:txBody>
      </p:sp>
      <p:sp>
        <p:nvSpPr>
          <p:cNvPr id="16" name="Shape 14"/>
          <p:cNvSpPr/>
          <p:nvPr/>
        </p:nvSpPr>
        <p:spPr>
          <a:xfrm>
            <a:off x="4405842" y="3332269"/>
            <a:ext cx="3380317" cy="1189143"/>
          </a:xfrm>
          <a:prstGeom prst="roundRect">
            <a:avLst>
              <a:gd name="adj" fmla="val 8277"/>
            </a:avLst>
          </a:prstGeom>
          <a:solidFill>
            <a:srgbClr val="FFFFFF"/>
          </a:solidFill>
          <a:ln w="6350">
            <a:solidFill>
              <a:srgbClr val="DDE2E8"/>
            </a:solidFill>
            <a:prstDash val="solid"/>
          </a:ln>
        </p:spPr>
      </p:sp>
      <p:sp>
        <p:nvSpPr>
          <p:cNvPr id="17" name="Text 15"/>
          <p:cNvSpPr/>
          <p:nvPr/>
        </p:nvSpPr>
        <p:spPr>
          <a:xfrm>
            <a:off x="4634654" y="3561080"/>
            <a:ext cx="301037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1B2D"/>
                </a:solidFill>
                <a:latin typeface="IBM Plex Sans" pitchFamily="34" charset="0"/>
                <a:ea typeface="IBM Plex Sans" pitchFamily="34" charset="-122"/>
                <a:cs typeface="IBM Plex Sans" pitchFamily="34" charset="-120"/>
              </a:rPr>
              <a:t>Fear of a new silo</a:t>
            </a:r>
            <a:endParaRPr lang="en-US" sz="1500" dirty="0"/>
          </a:p>
        </p:txBody>
      </p:sp>
      <p:sp>
        <p:nvSpPr>
          <p:cNvPr id="18" name="Text 16"/>
          <p:cNvSpPr/>
          <p:nvPr/>
        </p:nvSpPr>
        <p:spPr>
          <a:xfrm>
            <a:off x="4634654" y="3865880"/>
            <a:ext cx="301037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Managed from the Azure portal, with Azure RBAC and Entra ID on by default</a:t>
            </a:r>
            <a:endParaRPr lang="en-US" sz="1200" dirty="0"/>
          </a:p>
        </p:txBody>
      </p:sp>
      <p:sp>
        <p:nvSpPr>
          <p:cNvPr id="19" name="Shape 17"/>
          <p:cNvSpPr/>
          <p:nvPr/>
        </p:nvSpPr>
        <p:spPr>
          <a:xfrm>
            <a:off x="7995709" y="3332269"/>
            <a:ext cx="3380317" cy="1189143"/>
          </a:xfrm>
          <a:prstGeom prst="roundRect">
            <a:avLst>
              <a:gd name="adj" fmla="val 8277"/>
            </a:avLst>
          </a:prstGeom>
          <a:solidFill>
            <a:srgbClr val="FFFFFF"/>
          </a:solidFill>
          <a:ln w="6350">
            <a:solidFill>
              <a:srgbClr val="DDE2E8"/>
            </a:solidFill>
            <a:prstDash val="solid"/>
          </a:ln>
        </p:spPr>
      </p:sp>
      <p:sp>
        <p:nvSpPr>
          <p:cNvPr id="20" name="Text 18"/>
          <p:cNvSpPr/>
          <p:nvPr/>
        </p:nvSpPr>
        <p:spPr>
          <a:xfrm>
            <a:off x="8224520" y="3561080"/>
            <a:ext cx="301037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1B2D"/>
                </a:solidFill>
                <a:latin typeface="IBM Plex Sans" pitchFamily="34" charset="0"/>
                <a:ea typeface="IBM Plex Sans" pitchFamily="34" charset="-122"/>
                <a:cs typeface="IBM Plex Sans" pitchFamily="34" charset="-120"/>
              </a:rPr>
              <a:t>Rewrites for on-prem</a:t>
            </a:r>
            <a:endParaRPr lang="en-US" sz="1500" dirty="0"/>
          </a:p>
        </p:txBody>
      </p:sp>
      <p:sp>
        <p:nvSpPr>
          <p:cNvPr id="21" name="Text 19"/>
          <p:cNvSpPr/>
          <p:nvPr/>
        </p:nvSpPr>
        <p:spPr>
          <a:xfrm>
            <a:off x="8224520" y="3865880"/>
            <a:ext cx="301037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OpenAI-compatible endpoint: change the base URL, keep the code</a:t>
            </a:r>
            <a:endParaRPr lang="en-US" sz="1200" dirty="0"/>
          </a:p>
        </p:txBody>
      </p:sp>
      <p:sp>
        <p:nvSpPr>
          <p:cNvPr id="22" name="Text 20"/>
          <p:cNvSpPr/>
          <p:nvPr/>
        </p:nvSpPr>
        <p:spPr>
          <a:xfrm>
            <a:off x="812800" y="6238241"/>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484"/>
                </a:solidFill>
                <a:latin typeface="IBM Plex Sans" pitchFamily="34" charset="0"/>
                <a:ea typeface="IBM Plex Sans" pitchFamily="34" charset="-122"/>
                <a:cs typeface="IBM Plex Sans" pitchFamily="34" charset="-120"/>
              </a:rPr>
              <a:t>Source: Microsoft Learn, Foundry Local on Azure Local documentation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F6FEB"/>
        </a:solidFill>
      </p:bgPr>
    </p:bg>
    <p:spTree>
      <p:nvGrpSpPr>
        <p:cNvPr id="1" name=""/>
        <p:cNvGrpSpPr/>
        <p:nvPr/>
      </p:nvGrpSpPr>
      <p:grpSpPr>
        <a:xfrm>
          <a:off x="0" y="0"/>
          <a:ext cx="0" cy="0"/>
          <a:chOff x="0" y="0"/>
          <a:chExt cx="0" cy="0"/>
        </a:xfrm>
      </p:grpSpPr>
      <p:sp>
        <p:nvSpPr>
          <p:cNvPr id="2" name="Text 0"/>
          <p:cNvSpPr/>
          <p:nvPr/>
        </p:nvSpPr>
        <p:spPr>
          <a:xfrm>
            <a:off x="812800" y="2033271"/>
            <a:ext cx="10883393" cy="292100"/>
          </a:xfrm>
          <a:prstGeom prst="rect">
            <a:avLst/>
          </a:prstGeom>
          <a:noFill/>
          <a:ln/>
        </p:spPr>
        <p:txBody>
          <a:bodyPr wrap="square" lIns="0" tIns="0" rIns="0" bIns="0" rtlCol="0" anchor="t">
            <a:normAutofit/>
          </a:bodyPr>
          <a:lstStyle/>
          <a:p>
            <a:pPr algn="l" indent="0" marL="0">
              <a:lnSpc>
                <a:spcPts val="2100"/>
              </a:lnSpc>
              <a:buNone/>
            </a:pPr>
            <a:r>
              <a:rPr lang="en-US" sz="1500" b="1" spc="200" kern="0" dirty="0">
                <a:solidFill>
                  <a:srgbClr val="DCE7FD"/>
                </a:solidFill>
                <a:latin typeface="IBM Plex Sans" pitchFamily="34" charset="0"/>
                <a:ea typeface="IBM Plex Sans" pitchFamily="34" charset="-122"/>
                <a:cs typeface="IBM Plex Sans" pitchFamily="34" charset="-120"/>
              </a:rPr>
              <a:t>THE IDEA</a:t>
            </a:r>
            <a:endParaRPr lang="en-US" sz="1500" dirty="0"/>
          </a:p>
        </p:txBody>
      </p:sp>
      <p:sp>
        <p:nvSpPr>
          <p:cNvPr id="3" name="Text 1"/>
          <p:cNvSpPr/>
          <p:nvPr>
            <p:ph type="title"/>
          </p:nvPr>
        </p:nvSpPr>
        <p:spPr>
          <a:xfrm>
            <a:off x="812800" y="2604771"/>
            <a:ext cx="9810751" cy="1254760"/>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FFFFFF"/>
                </a:solidFill>
                <a:latin typeface="IBM Plex Sans" pitchFamily="34" charset="0"/>
                <a:ea typeface="IBM Plex Sans" pitchFamily="34" charset="-122"/>
                <a:cs typeface="IBM Plex Sans" pitchFamily="34" charset="-120"/>
              </a:rPr>
              <a:t>Bring Foundry models to the data, not the data to the cloud</a:t>
            </a:r>
            <a:endParaRPr lang="en-US" sz="4400" dirty="0"/>
          </a:p>
        </p:txBody>
      </p:sp>
      <p:sp>
        <p:nvSpPr>
          <p:cNvPr id="4" name="Text 2"/>
          <p:cNvSpPr/>
          <p:nvPr/>
        </p:nvSpPr>
        <p:spPr>
          <a:xfrm>
            <a:off x="812800" y="4138930"/>
            <a:ext cx="9156701"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E8EFFD"/>
                </a:solidFill>
                <a:latin typeface="IBM Plex Sans" pitchFamily="34" charset="0"/>
                <a:ea typeface="IBM Plex Sans" pitchFamily="34" charset="-122"/>
                <a:cs typeface="IBM Plex Sans" pitchFamily="34" charset="-120"/>
              </a:rPr>
              <a:t>AI inference on the Azure Local you already run, governed through Azure Arc, with the same OpenAI API your developers use everywhere</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EB"/>
                </a:solidFill>
                <a:latin typeface="IBM Plex Sans" pitchFamily="34" charset="0"/>
                <a:ea typeface="IBM Plex Sans" pitchFamily="34" charset="-122"/>
                <a:cs typeface="IBM Plex Sans" pitchFamily="34" charset="-120"/>
              </a:rPr>
              <a:t>THE VALUE</a:t>
            </a:r>
            <a:endParaRPr lang="en-US" sz="1200" dirty="0"/>
          </a:p>
        </p:txBody>
      </p:sp>
      <p:sp>
        <p:nvSpPr>
          <p:cNvPr id="3" name="Text 1"/>
          <p:cNvSpPr/>
          <p:nvPr>
            <p:ph type="title"/>
          </p:nvPr>
        </p:nvSpPr>
        <p:spPr>
          <a:xfrm>
            <a:off x="812800" y="1127759"/>
            <a:ext cx="10883393"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Three reasons it fits an Azure Local estate</a:t>
            </a:r>
            <a:endParaRPr lang="en-US" sz="3200" dirty="0"/>
          </a:p>
        </p:txBody>
      </p:sp>
      <p:sp>
        <p:nvSpPr>
          <p:cNvPr id="4" name="Shape 2"/>
          <p:cNvSpPr/>
          <p:nvPr/>
        </p:nvSpPr>
        <p:spPr>
          <a:xfrm>
            <a:off x="812800" y="2051050"/>
            <a:ext cx="3352800" cy="0"/>
          </a:xfrm>
          <a:prstGeom prst="line">
            <a:avLst/>
          </a:prstGeom>
          <a:noFill/>
          <a:ln w="38100">
            <a:solidFill>
              <a:srgbClr val="2F6FEB"/>
            </a:solidFill>
            <a:prstDash val="solid"/>
          </a:ln>
        </p:spPr>
      </p:sp>
      <p:sp>
        <p:nvSpPr>
          <p:cNvPr id="5" name="Text 3"/>
          <p:cNvSpPr/>
          <p:nvPr/>
        </p:nvSpPr>
        <p:spPr>
          <a:xfrm>
            <a:off x="812800" y="2323254"/>
            <a:ext cx="3453384" cy="59436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2F6FEB"/>
                </a:solidFill>
                <a:latin typeface="IBM Plex Sans" pitchFamily="34" charset="0"/>
                <a:ea typeface="IBM Plex Sans" pitchFamily="34" charset="-122"/>
                <a:cs typeface="IBM Plex Sans" pitchFamily="34" charset="-120"/>
              </a:rPr>
              <a:t>01</a:t>
            </a:r>
            <a:endParaRPr lang="en-US" sz="3200" dirty="0"/>
          </a:p>
        </p:txBody>
      </p:sp>
      <p:sp>
        <p:nvSpPr>
          <p:cNvPr id="6" name="Text 4"/>
          <p:cNvSpPr/>
          <p:nvPr/>
        </p:nvSpPr>
        <p:spPr>
          <a:xfrm>
            <a:off x="812800" y="3019213"/>
            <a:ext cx="345338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Sovereignty and control</a:t>
            </a:r>
            <a:endParaRPr lang="en-US" sz="2000" dirty="0"/>
          </a:p>
        </p:txBody>
      </p:sp>
      <p:sp>
        <p:nvSpPr>
          <p:cNvPr id="7" name="Text 5"/>
          <p:cNvSpPr/>
          <p:nvPr/>
        </p:nvSpPr>
        <p:spPr>
          <a:xfrm>
            <a:off x="812800" y="3451013"/>
            <a:ext cx="345338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Data, models and operations stay on premises, including fully disconnected</a:t>
            </a:r>
            <a:endParaRPr lang="en-US" sz="1500" dirty="0"/>
          </a:p>
        </p:txBody>
      </p:sp>
      <p:sp>
        <p:nvSpPr>
          <p:cNvPr id="8" name="Shape 6"/>
          <p:cNvSpPr/>
          <p:nvPr/>
        </p:nvSpPr>
        <p:spPr>
          <a:xfrm>
            <a:off x="4419600" y="2051050"/>
            <a:ext cx="3352800" cy="0"/>
          </a:xfrm>
          <a:prstGeom prst="line">
            <a:avLst/>
          </a:prstGeom>
          <a:noFill/>
          <a:ln w="38100">
            <a:solidFill>
              <a:srgbClr val="2F6FEB"/>
            </a:solidFill>
            <a:prstDash val="solid"/>
          </a:ln>
        </p:spPr>
      </p:sp>
      <p:sp>
        <p:nvSpPr>
          <p:cNvPr id="9" name="Text 7"/>
          <p:cNvSpPr/>
          <p:nvPr/>
        </p:nvSpPr>
        <p:spPr>
          <a:xfrm>
            <a:off x="4419600" y="2323254"/>
            <a:ext cx="3453384" cy="59436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2F6FEB"/>
                </a:solidFill>
                <a:latin typeface="IBM Plex Sans" pitchFamily="34" charset="0"/>
                <a:ea typeface="IBM Plex Sans" pitchFamily="34" charset="-122"/>
                <a:cs typeface="IBM Plex Sans" pitchFamily="34" charset="-120"/>
              </a:rPr>
              <a:t>02</a:t>
            </a:r>
            <a:endParaRPr lang="en-US" sz="3200" dirty="0"/>
          </a:p>
        </p:txBody>
      </p:sp>
      <p:sp>
        <p:nvSpPr>
          <p:cNvPr id="10" name="Text 8"/>
          <p:cNvSpPr/>
          <p:nvPr/>
        </p:nvSpPr>
        <p:spPr>
          <a:xfrm>
            <a:off x="4419600" y="3019213"/>
            <a:ext cx="345338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One Azure operating model</a:t>
            </a:r>
            <a:endParaRPr lang="en-US" sz="2000" dirty="0"/>
          </a:p>
        </p:txBody>
      </p:sp>
      <p:sp>
        <p:nvSpPr>
          <p:cNvPr id="11" name="Text 9"/>
          <p:cNvSpPr/>
          <p:nvPr/>
        </p:nvSpPr>
        <p:spPr>
          <a:xfrm>
            <a:off x="4419600" y="3451013"/>
            <a:ext cx="345338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The same Arc control plane, RBAC and portal already used for Azure Local</a:t>
            </a:r>
            <a:endParaRPr lang="en-US" sz="1500" dirty="0"/>
          </a:p>
        </p:txBody>
      </p:sp>
      <p:sp>
        <p:nvSpPr>
          <p:cNvPr id="12" name="Shape 10"/>
          <p:cNvSpPr/>
          <p:nvPr/>
        </p:nvSpPr>
        <p:spPr>
          <a:xfrm>
            <a:off x="8026401" y="2051050"/>
            <a:ext cx="3352800" cy="0"/>
          </a:xfrm>
          <a:prstGeom prst="line">
            <a:avLst/>
          </a:prstGeom>
          <a:noFill/>
          <a:ln w="38100">
            <a:solidFill>
              <a:srgbClr val="2F6FEB"/>
            </a:solidFill>
            <a:prstDash val="solid"/>
          </a:ln>
        </p:spPr>
      </p:sp>
      <p:sp>
        <p:nvSpPr>
          <p:cNvPr id="13" name="Text 11"/>
          <p:cNvSpPr/>
          <p:nvPr/>
        </p:nvSpPr>
        <p:spPr>
          <a:xfrm>
            <a:off x="8026401" y="2323254"/>
            <a:ext cx="3453384" cy="59436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2F6FEB"/>
                </a:solidFill>
                <a:latin typeface="IBM Plex Sans" pitchFamily="34" charset="0"/>
                <a:ea typeface="IBM Plex Sans" pitchFamily="34" charset="-122"/>
                <a:cs typeface="IBM Plex Sans" pitchFamily="34" charset="-120"/>
              </a:rPr>
              <a:t>03</a:t>
            </a:r>
            <a:endParaRPr lang="en-US" sz="3200" dirty="0"/>
          </a:p>
        </p:txBody>
      </p:sp>
      <p:sp>
        <p:nvSpPr>
          <p:cNvPr id="14" name="Text 12"/>
          <p:cNvSpPr/>
          <p:nvPr/>
        </p:nvSpPr>
        <p:spPr>
          <a:xfrm>
            <a:off x="8026401" y="3019213"/>
            <a:ext cx="345338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Developer continuity</a:t>
            </a:r>
            <a:endParaRPr lang="en-US" sz="2000" dirty="0"/>
          </a:p>
        </p:txBody>
      </p:sp>
      <p:sp>
        <p:nvSpPr>
          <p:cNvPr id="15" name="Text 13"/>
          <p:cNvSpPr/>
          <p:nvPr/>
        </p:nvSpPr>
        <p:spPr>
          <a:xfrm>
            <a:off x="8026401" y="3451013"/>
            <a:ext cx="345338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Build on a workstation, deploy to the cluster, burst to Foundry cloud: one API</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EB"/>
                </a:solidFill>
                <a:latin typeface="IBM Plex Sans" pitchFamily="34" charset="0"/>
                <a:ea typeface="IBM Plex Sans" pitchFamily="34" charset="-122"/>
                <a:cs typeface="IBM Plex Sans" pitchFamily="34" charset="-120"/>
              </a:rPr>
              <a:t>WHERE IT FITS</a:t>
            </a:r>
            <a:endParaRPr lang="en-US" sz="1200" dirty="0"/>
          </a:p>
        </p:txBody>
      </p:sp>
      <p:sp>
        <p:nvSpPr>
          <p:cNvPr id="3" name="Text 1"/>
          <p:cNvSpPr/>
          <p:nvPr>
            <p:ph type="title"/>
          </p:nvPr>
        </p:nvSpPr>
        <p:spPr>
          <a:xfrm>
            <a:off x="812800" y="1127761"/>
            <a:ext cx="10883393"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One API from the workstation to the cloud</a:t>
            </a:r>
            <a:endParaRPr lang="en-US" sz="3200" dirty="0"/>
          </a:p>
        </p:txBody>
      </p:sp>
      <p:sp>
        <p:nvSpPr>
          <p:cNvPr id="4" name="Shape 2"/>
          <p:cNvSpPr/>
          <p:nvPr/>
        </p:nvSpPr>
        <p:spPr>
          <a:xfrm>
            <a:off x="815975" y="1984375"/>
            <a:ext cx="3032601" cy="3854450"/>
          </a:xfrm>
          <a:prstGeom prst="roundRect">
            <a:avLst>
              <a:gd name="adj" fmla="val 3246"/>
            </a:avLst>
          </a:prstGeom>
          <a:solidFill>
            <a:srgbClr val="FFFFFF"/>
          </a:solidFill>
          <a:ln w="6350">
            <a:solidFill>
              <a:srgbClr val="DDE2E8"/>
            </a:solidFill>
            <a:prstDash val="solid"/>
          </a:ln>
        </p:spPr>
      </p:sp>
      <p:sp>
        <p:nvSpPr>
          <p:cNvPr id="5" name="Text 3"/>
          <p:cNvSpPr/>
          <p:nvPr/>
        </p:nvSpPr>
        <p:spPr>
          <a:xfrm>
            <a:off x="1070187" y="2238589"/>
            <a:ext cx="259990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A7484"/>
                </a:solidFill>
                <a:latin typeface="IBM Plex Sans" pitchFamily="34" charset="0"/>
                <a:ea typeface="IBM Plex Sans" pitchFamily="34" charset="-122"/>
                <a:cs typeface="IBM Plex Sans" pitchFamily="34" charset="-120"/>
              </a:rPr>
              <a:t>DEVICE</a:t>
            </a:r>
            <a:endParaRPr lang="en-US" sz="1200" dirty="0"/>
          </a:p>
        </p:txBody>
      </p:sp>
      <p:sp>
        <p:nvSpPr>
          <p:cNvPr id="6" name="Text 4"/>
          <p:cNvSpPr/>
          <p:nvPr/>
        </p:nvSpPr>
        <p:spPr>
          <a:xfrm>
            <a:off x="1070187" y="2553550"/>
            <a:ext cx="2599903"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Foundry Local on a PC</a:t>
            </a:r>
            <a:endParaRPr lang="en-US" sz="2000" dirty="0"/>
          </a:p>
        </p:txBody>
      </p:sp>
      <p:sp>
        <p:nvSpPr>
          <p:cNvPr id="7" name="Text 5"/>
          <p:cNvSpPr/>
          <p:nvPr/>
        </p:nvSpPr>
        <p:spPr>
          <a:xfrm>
            <a:off x="1070187" y="3264750"/>
            <a:ext cx="259990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One user, one device. The developer inner loop: prototype before the cluster has GPUs.</a:t>
            </a:r>
            <a:endParaRPr lang="en-US" sz="1400" dirty="0"/>
          </a:p>
        </p:txBody>
      </p:sp>
      <p:pic>
        <p:nvPicPr>
          <p:cNvPr id="8" name="Image 0" descr="arrow-right">    </p:cNvPr>
          <p:cNvPicPr>
            <a:picLocks noChangeAspect="1"/>
          </p:cNvPicPr>
          <p:nvPr/>
        </p:nvPicPr>
        <p:blipFill>
          <a:blip r:embed="rId1"/>
          <a:srcRect l="0" r="0" t="0" b="0"/>
          <a:stretch/>
        </p:blipFill>
        <p:spPr>
          <a:xfrm>
            <a:off x="4004151" y="3810003"/>
            <a:ext cx="406400" cy="203200"/>
          </a:xfrm>
          <a:prstGeom prst="rect">
            <a:avLst/>
          </a:prstGeom>
        </p:spPr>
      </p:pic>
      <p:sp>
        <p:nvSpPr>
          <p:cNvPr id="9" name="Shape 6"/>
          <p:cNvSpPr/>
          <p:nvPr/>
        </p:nvSpPr>
        <p:spPr>
          <a:xfrm>
            <a:off x="4572476" y="1990725"/>
            <a:ext cx="3047048" cy="3841750"/>
          </a:xfrm>
          <a:prstGeom prst="roundRect">
            <a:avLst>
              <a:gd name="adj" fmla="val 3022"/>
            </a:avLst>
          </a:prstGeom>
          <a:solidFill>
            <a:srgbClr val="E7EFFD"/>
          </a:solidFill>
          <a:ln w="19050">
            <a:solidFill>
              <a:srgbClr val="2F6FEB"/>
            </a:solidFill>
            <a:prstDash val="solid"/>
          </a:ln>
        </p:spPr>
      </p:sp>
      <p:sp>
        <p:nvSpPr>
          <p:cNvPr id="10" name="Text 7"/>
          <p:cNvSpPr/>
          <p:nvPr/>
        </p:nvSpPr>
        <p:spPr>
          <a:xfrm>
            <a:off x="4833885" y="2252135"/>
            <a:ext cx="259995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FEB"/>
                </a:solidFill>
                <a:latin typeface="IBM Plex Sans" pitchFamily="34" charset="0"/>
                <a:ea typeface="IBM Plex Sans" pitchFamily="34" charset="-122"/>
                <a:cs typeface="IBM Plex Sans" pitchFamily="34" charset="-120"/>
              </a:rPr>
              <a:t>YOUR DATACENTER</a:t>
            </a:r>
            <a:endParaRPr lang="en-US" sz="1200" dirty="0"/>
          </a:p>
        </p:txBody>
      </p:sp>
      <p:sp>
        <p:nvSpPr>
          <p:cNvPr id="11" name="Text 8"/>
          <p:cNvSpPr/>
          <p:nvPr/>
        </p:nvSpPr>
        <p:spPr>
          <a:xfrm>
            <a:off x="4833885" y="2567096"/>
            <a:ext cx="2599958"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Foundry Local on Azure Local</a:t>
            </a:r>
            <a:endParaRPr lang="en-US" sz="2000" dirty="0"/>
          </a:p>
        </p:txBody>
      </p:sp>
      <p:sp>
        <p:nvSpPr>
          <p:cNvPr id="12" name="Text 9"/>
          <p:cNvSpPr/>
          <p:nvPr/>
        </p:nvSpPr>
        <p:spPr>
          <a:xfrm>
            <a:off x="4833885" y="3278296"/>
            <a:ext cx="2599958"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3415C"/>
                </a:solidFill>
                <a:latin typeface="IBM Plex Sans" pitchFamily="34" charset="0"/>
                <a:ea typeface="IBM Plex Sans" pitchFamily="34" charset="-122"/>
                <a:cs typeface="IBM Plex Sans" pitchFamily="34" charset="-120"/>
              </a:rPr>
              <a:t>Shared, multi-user inference on your AKS Arc cluster, connected or disconnected.</a:t>
            </a:r>
            <a:endParaRPr lang="en-US" sz="1400" dirty="0"/>
          </a:p>
        </p:txBody>
      </p:sp>
      <p:pic>
        <p:nvPicPr>
          <p:cNvPr id="13" name="Image 1" descr="arrow-right">    </p:cNvPr>
          <p:cNvPicPr>
            <a:picLocks noChangeAspect="1"/>
          </p:cNvPicPr>
          <p:nvPr/>
        </p:nvPicPr>
        <p:blipFill>
          <a:blip r:embed="rId2"/>
          <a:srcRect l="0" r="0" t="0" b="0"/>
          <a:stretch/>
        </p:blipFill>
        <p:spPr>
          <a:xfrm>
            <a:off x="7781449" y="3810003"/>
            <a:ext cx="406400" cy="203200"/>
          </a:xfrm>
          <a:prstGeom prst="rect">
            <a:avLst/>
          </a:prstGeom>
        </p:spPr>
      </p:pic>
      <p:sp>
        <p:nvSpPr>
          <p:cNvPr id="14" name="Shape 10"/>
          <p:cNvSpPr/>
          <p:nvPr/>
        </p:nvSpPr>
        <p:spPr>
          <a:xfrm>
            <a:off x="8343424" y="1984375"/>
            <a:ext cx="3032601" cy="3854450"/>
          </a:xfrm>
          <a:prstGeom prst="roundRect">
            <a:avLst>
              <a:gd name="adj" fmla="val 3246"/>
            </a:avLst>
          </a:prstGeom>
          <a:solidFill>
            <a:srgbClr val="FFFFFF"/>
          </a:solidFill>
          <a:ln w="6350">
            <a:solidFill>
              <a:srgbClr val="DDE2E8"/>
            </a:solidFill>
            <a:prstDash val="solid"/>
          </a:ln>
        </p:spPr>
      </p:sp>
      <p:sp>
        <p:nvSpPr>
          <p:cNvPr id="15" name="Text 11"/>
          <p:cNvSpPr/>
          <p:nvPr/>
        </p:nvSpPr>
        <p:spPr>
          <a:xfrm>
            <a:off x="8597636" y="2238589"/>
            <a:ext cx="259990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A7484"/>
                </a:solidFill>
                <a:latin typeface="IBM Plex Sans" pitchFamily="34" charset="0"/>
                <a:ea typeface="IBM Plex Sans" pitchFamily="34" charset="-122"/>
                <a:cs typeface="IBM Plex Sans" pitchFamily="34" charset="-120"/>
              </a:rPr>
              <a:t>AZURE</a:t>
            </a:r>
            <a:endParaRPr lang="en-US" sz="1200" dirty="0"/>
          </a:p>
        </p:txBody>
      </p:sp>
      <p:sp>
        <p:nvSpPr>
          <p:cNvPr id="16" name="Text 12"/>
          <p:cNvSpPr/>
          <p:nvPr/>
        </p:nvSpPr>
        <p:spPr>
          <a:xfrm>
            <a:off x="8597636" y="2553550"/>
            <a:ext cx="259990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B2D"/>
                </a:solidFill>
                <a:latin typeface="IBM Plex Sans" pitchFamily="34" charset="0"/>
                <a:ea typeface="IBM Plex Sans" pitchFamily="34" charset="-122"/>
                <a:cs typeface="IBM Plex Sans" pitchFamily="34" charset="-120"/>
              </a:rPr>
              <a:t>Microsoft Foundry</a:t>
            </a:r>
            <a:endParaRPr lang="en-US" sz="2000" dirty="0"/>
          </a:p>
        </p:txBody>
      </p:sp>
      <p:sp>
        <p:nvSpPr>
          <p:cNvPr id="17" name="Text 13"/>
          <p:cNvSpPr/>
          <p:nvPr/>
        </p:nvSpPr>
        <p:spPr>
          <a:xfrm>
            <a:off x="8597636" y="2959950"/>
            <a:ext cx="2599903"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Frontier models, hosted agents, fine-tuning and evaluation, when data rules allow.</a:t>
            </a:r>
            <a:endParaRPr lang="en-US" sz="1400" dirty="0"/>
          </a:p>
        </p:txBody>
      </p:sp>
      <p:sp>
        <p:nvSpPr>
          <p:cNvPr id="18" name="Text 14"/>
          <p:cNvSpPr/>
          <p:nvPr/>
        </p:nvSpPr>
        <p:spPr>
          <a:xfrm>
            <a:off x="812800" y="6238242"/>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484"/>
                </a:solidFill>
                <a:latin typeface="IBM Plex Sans" pitchFamily="34" charset="0"/>
                <a:ea typeface="IBM Plex Sans" pitchFamily="34" charset="-122"/>
                <a:cs typeface="IBM Plex Sans" pitchFamily="34" charset="-120"/>
              </a:rPr>
              <a:t>Foundry Local is the AI layer of Microsoft’s Sovereign Private Cloud, alongside Azure Local and Microsoft 365 Local</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3"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0F1B2D"/>
                </a:solidFill>
                <a:latin typeface="IBM Plex Sans" pitchFamily="34" charset="0"/>
                <a:ea typeface="IBM Plex Sans" pitchFamily="34" charset="-122"/>
                <a:cs typeface="IBM Plex Sans" pitchFamily="34" charset="-120"/>
              </a:rPr>
              <a:t>Apps call one endpoint; Azure Arc runs the cluster side</a:t>
            </a:r>
            <a:endParaRPr lang="en-US" sz="2800" dirty="0"/>
          </a:p>
        </p:txBody>
      </p:sp>
      <p:sp>
        <p:nvSpPr>
          <p:cNvPr id="3" name="Shape 1"/>
          <p:cNvSpPr/>
          <p:nvPr/>
        </p:nvSpPr>
        <p:spPr>
          <a:xfrm>
            <a:off x="819150" y="1454150"/>
            <a:ext cx="10553701" cy="546100"/>
          </a:xfrm>
          <a:prstGeom prst="roundRect">
            <a:avLst>
              <a:gd name="adj" fmla="val 12791"/>
            </a:avLst>
          </a:prstGeom>
          <a:solidFill>
            <a:srgbClr val="FFFFFF"/>
          </a:solidFill>
          <a:ln w="12700">
            <a:solidFill>
              <a:srgbClr val="9AA6B6"/>
            </a:solidFill>
            <a:prstDash val="solid"/>
          </a:ln>
        </p:spPr>
      </p:sp>
      <p:sp>
        <p:nvSpPr>
          <p:cNvPr id="4" name="Text 2"/>
          <p:cNvSpPr/>
          <p:nvPr/>
        </p:nvSpPr>
        <p:spPr>
          <a:xfrm>
            <a:off x="1026160" y="1612900"/>
            <a:ext cx="2225078" cy="254000"/>
          </a:xfrm>
          <a:prstGeom prst="rect">
            <a:avLst/>
          </a:prstGeom>
          <a:noFill/>
          <a:ln/>
        </p:spPr>
        <p:txBody>
          <a:bodyPr wrap="none" lIns="0" tIns="0" rIns="0" bIns="0" rtlCol="0" anchor="t">
            <a:normAutofit/>
          </a:bodyPr>
          <a:lstStyle/>
          <a:p>
            <a:pPr algn="l" indent="0" marL="0">
              <a:lnSpc>
                <a:spcPts val="1800"/>
              </a:lnSpc>
              <a:buNone/>
            </a:pPr>
            <a:r>
              <a:rPr lang="en-US" sz="1500" b="1" dirty="0">
                <a:solidFill>
                  <a:srgbClr val="0F1B2D"/>
                </a:solidFill>
                <a:latin typeface="IBM Plex Sans" pitchFamily="34" charset="0"/>
                <a:ea typeface="IBM Plex Sans" pitchFamily="34" charset="-122"/>
                <a:cs typeface="IBM Plex Sans" pitchFamily="34" charset="-120"/>
              </a:rPr>
              <a:t>Azure portal + Azure Arc</a:t>
            </a:r>
            <a:endParaRPr lang="en-US" sz="1500" dirty="0"/>
          </a:p>
        </p:txBody>
      </p:sp>
      <p:sp>
        <p:nvSpPr>
          <p:cNvPr id="5" name="Text 3"/>
          <p:cNvSpPr/>
          <p:nvPr/>
        </p:nvSpPr>
        <p:spPr>
          <a:xfrm>
            <a:off x="3389630" y="1620518"/>
            <a:ext cx="4250017"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Installs the extension · Azure RBAC · Entra ID authentication</a:t>
            </a:r>
            <a:endParaRPr lang="en-US" sz="1200" dirty="0"/>
          </a:p>
        </p:txBody>
      </p:sp>
      <p:sp>
        <p:nvSpPr>
          <p:cNvPr id="6" name="Text 4"/>
          <p:cNvSpPr/>
          <p:nvPr/>
        </p:nvSpPr>
        <p:spPr>
          <a:xfrm>
            <a:off x="815975" y="2238375"/>
            <a:ext cx="10560051" cy="2787650"/>
          </a:xfrm>
          <a:prstGeom prst="roundRect">
            <a:avLst>
              <a:gd name="adj" fmla="val 3531"/>
            </a:avLst>
          </a:prstGeom>
          <a:solidFill>
            <a:srgbClr val="E9EDF2"/>
          </a:solidFill>
          <a:ln w="6350">
            <a:solidFill>
              <a:srgbClr val="C9D1DB"/>
            </a:solidFill>
            <a:prstDash val="solid"/>
          </a:ln>
        </p:spPr>
        <p:txBody>
          <a:bodyPr wrap="square" lIns="0" tIns="98384" rIns="225384" bIns="98384" rtlCol="0" anchor="t">
            <a:normAutofit/>
          </a:bodyPr>
          <a:lstStyle/>
          <a:p>
            <a:pPr algn="r" indent="0" marL="0">
              <a:lnSpc>
                <a:spcPts val="1820"/>
              </a:lnSpc>
              <a:buNone/>
            </a:pPr>
            <a:r>
              <a:rPr lang="en-US" sz="1300" b="1" dirty="0">
                <a:solidFill>
                  <a:srgbClr val="33415C"/>
                </a:solidFill>
                <a:latin typeface="IBM Plex Sans" pitchFamily="34" charset="0"/>
                <a:ea typeface="IBM Plex Sans" pitchFamily="34" charset="-122"/>
                <a:cs typeface="IBM Plex Sans" pitchFamily="34" charset="-120"/>
              </a:rPr>
              <a:t>Azure Local · AKS Arc cluster (Kubernetes 1.29+)</a:t>
            </a:r>
            <a:endParaRPr lang="en-US" sz="1300" dirty="0"/>
          </a:p>
        </p:txBody>
      </p:sp>
      <p:sp>
        <p:nvSpPr>
          <p:cNvPr id="7" name="Shape 5"/>
          <p:cNvSpPr/>
          <p:nvPr/>
        </p:nvSpPr>
        <p:spPr>
          <a:xfrm>
            <a:off x="1069975" y="2670175"/>
            <a:ext cx="3041650" cy="1111250"/>
          </a:xfrm>
          <a:prstGeom prst="roundRect">
            <a:avLst>
              <a:gd name="adj" fmla="val 6571"/>
            </a:avLst>
          </a:prstGeom>
          <a:solidFill>
            <a:srgbClr val="FFFFFF"/>
          </a:solidFill>
          <a:ln w="6350">
            <a:solidFill>
              <a:srgbClr val="9AA6B6"/>
            </a:solidFill>
            <a:prstDash val="solid"/>
          </a:ln>
        </p:spPr>
      </p:sp>
      <p:sp>
        <p:nvSpPr>
          <p:cNvPr id="8" name="Text 6"/>
          <p:cNvSpPr/>
          <p:nvPr/>
        </p:nvSpPr>
        <p:spPr>
          <a:xfrm>
            <a:off x="1247987" y="2848186"/>
            <a:ext cx="276619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1B2D"/>
                </a:solidFill>
                <a:latin typeface="IBM Plex Sans" pitchFamily="34" charset="0"/>
                <a:ea typeface="IBM Plex Sans" pitchFamily="34" charset="-122"/>
                <a:cs typeface="IBM Plex Sans" pitchFamily="34" charset="-120"/>
              </a:rPr>
              <a:t>Foundry Local operator</a:t>
            </a:r>
            <a:endParaRPr lang="en-US" sz="1500" dirty="0"/>
          </a:p>
        </p:txBody>
      </p:sp>
      <p:sp>
        <p:nvSpPr>
          <p:cNvPr id="9" name="Text 7"/>
          <p:cNvSpPr/>
          <p:nvPr/>
        </p:nvSpPr>
        <p:spPr>
          <a:xfrm>
            <a:off x="1247987" y="3140286"/>
            <a:ext cx="276619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Arc extension Microsoft.Foundry; caches, deploys, serves</a:t>
            </a:r>
            <a:endParaRPr lang="en-US" sz="1200" dirty="0"/>
          </a:p>
        </p:txBody>
      </p:sp>
      <p:sp>
        <p:nvSpPr>
          <p:cNvPr id="10" name="Shape 8"/>
          <p:cNvSpPr/>
          <p:nvPr/>
        </p:nvSpPr>
        <p:spPr>
          <a:xfrm>
            <a:off x="4575175" y="2670175"/>
            <a:ext cx="3041650" cy="1111250"/>
          </a:xfrm>
          <a:prstGeom prst="roundRect">
            <a:avLst>
              <a:gd name="adj" fmla="val 6571"/>
            </a:avLst>
          </a:prstGeom>
          <a:solidFill>
            <a:srgbClr val="FFFFFF"/>
          </a:solidFill>
          <a:ln w="6350">
            <a:solidFill>
              <a:srgbClr val="9AA6B6"/>
            </a:solidFill>
            <a:prstDash val="solid"/>
          </a:ln>
        </p:spPr>
      </p:sp>
      <p:sp>
        <p:nvSpPr>
          <p:cNvPr id="11" name="Text 9"/>
          <p:cNvSpPr/>
          <p:nvPr/>
        </p:nvSpPr>
        <p:spPr>
          <a:xfrm>
            <a:off x="4753187" y="2848186"/>
            <a:ext cx="276619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1B2D"/>
                </a:solidFill>
                <a:latin typeface="IBM Plex Sans" pitchFamily="34" charset="0"/>
                <a:ea typeface="IBM Plex Sans" pitchFamily="34" charset="-122"/>
                <a:cs typeface="IBM Plex Sans" pitchFamily="34" charset="-120"/>
              </a:rPr>
              <a:t>ModelDeployment</a:t>
            </a:r>
            <a:endParaRPr lang="en-US" sz="1500" dirty="0"/>
          </a:p>
        </p:txBody>
      </p:sp>
      <p:sp>
        <p:nvSpPr>
          <p:cNvPr id="12" name="Text 10"/>
          <p:cNvSpPr/>
          <p:nvPr/>
        </p:nvSpPr>
        <p:spPr>
          <a:xfrm>
            <a:off x="4753187" y="3140286"/>
            <a:ext cx="276619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One resource per model, e.g. gpt-oss-20b on vLLM or ONNX</a:t>
            </a:r>
            <a:endParaRPr lang="en-US" sz="1200" dirty="0"/>
          </a:p>
        </p:txBody>
      </p:sp>
      <p:sp>
        <p:nvSpPr>
          <p:cNvPr id="13" name="Shape 11"/>
          <p:cNvSpPr/>
          <p:nvPr/>
        </p:nvSpPr>
        <p:spPr>
          <a:xfrm>
            <a:off x="8080376" y="2670175"/>
            <a:ext cx="3041650" cy="1111250"/>
          </a:xfrm>
          <a:prstGeom prst="roundRect">
            <a:avLst>
              <a:gd name="adj" fmla="val 6571"/>
            </a:avLst>
          </a:prstGeom>
          <a:solidFill>
            <a:srgbClr val="FFFFFF"/>
          </a:solidFill>
          <a:ln w="6350">
            <a:solidFill>
              <a:srgbClr val="9AA6B6"/>
            </a:solidFill>
            <a:prstDash val="solid"/>
          </a:ln>
        </p:spPr>
      </p:sp>
      <p:sp>
        <p:nvSpPr>
          <p:cNvPr id="14" name="Text 12"/>
          <p:cNvSpPr/>
          <p:nvPr/>
        </p:nvSpPr>
        <p:spPr>
          <a:xfrm>
            <a:off x="8258387" y="2848186"/>
            <a:ext cx="276619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1B2D"/>
                </a:solidFill>
                <a:latin typeface="IBM Plex Sans" pitchFamily="34" charset="0"/>
                <a:ea typeface="IBM Plex Sans" pitchFamily="34" charset="-122"/>
                <a:cs typeface="IBM Plex Sans" pitchFamily="34" charset="-120"/>
              </a:rPr>
              <a:t>Model pods</a:t>
            </a:r>
            <a:endParaRPr lang="en-US" sz="1500" dirty="0"/>
          </a:p>
        </p:txBody>
      </p:sp>
      <p:sp>
        <p:nvSpPr>
          <p:cNvPr id="15" name="Text 13"/>
          <p:cNvSpPr/>
          <p:nvPr/>
        </p:nvSpPr>
        <p:spPr>
          <a:xfrm>
            <a:off x="8258387" y="3140286"/>
            <a:ext cx="276619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Run on GPU nodes; multi-node supported</a:t>
            </a:r>
            <a:endParaRPr lang="en-US" sz="1200" dirty="0"/>
          </a:p>
        </p:txBody>
      </p:sp>
      <p:sp>
        <p:nvSpPr>
          <p:cNvPr id="16" name="Shape 14"/>
          <p:cNvSpPr/>
          <p:nvPr/>
        </p:nvSpPr>
        <p:spPr>
          <a:xfrm>
            <a:off x="3238500" y="4114800"/>
            <a:ext cx="5715000" cy="787400"/>
          </a:xfrm>
          <a:prstGeom prst="roundRect">
            <a:avLst>
              <a:gd name="adj" fmla="val 9677"/>
            </a:avLst>
          </a:prstGeom>
          <a:solidFill>
            <a:srgbClr val="2F6FEB"/>
          </a:solidFill>
          <a:ln/>
        </p:spPr>
      </p:sp>
      <p:sp>
        <p:nvSpPr>
          <p:cNvPr id="17" name="Text 15"/>
          <p:cNvSpPr/>
          <p:nvPr/>
        </p:nvSpPr>
        <p:spPr>
          <a:xfrm>
            <a:off x="3390900" y="4254500"/>
            <a:ext cx="557250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FFFF"/>
                </a:solidFill>
                <a:latin typeface="IBM Plex Sans" pitchFamily="34" charset="0"/>
                <a:ea typeface="IBM Plex Sans" pitchFamily="34" charset="-122"/>
                <a:cs typeface="IBM Plex Sans" pitchFamily="34" charset="-120"/>
              </a:rPr>
              <a:t>Inference endpoint</a:t>
            </a:r>
            <a:endParaRPr lang="en-US" sz="1500" dirty="0"/>
          </a:p>
        </p:txBody>
      </p:sp>
      <p:sp>
        <p:nvSpPr>
          <p:cNvPr id="18" name="Text 16"/>
          <p:cNvSpPr/>
          <p:nvPr/>
        </p:nvSpPr>
        <p:spPr>
          <a:xfrm>
            <a:off x="3390900" y="4533900"/>
            <a:ext cx="557250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FFD"/>
                </a:solidFill>
                <a:latin typeface="IBM Plex Sans" pitchFamily="34" charset="0"/>
                <a:ea typeface="IBM Plex Sans" pitchFamily="34" charset="-122"/>
                <a:cs typeface="IBM Plex Sans" pitchFamily="34" charset="-120"/>
              </a:rPr>
              <a:t>OpenAI-compatible /v1/chat/completions · TLS by default</a:t>
            </a:r>
            <a:endParaRPr lang="en-US" sz="1200" dirty="0"/>
          </a:p>
        </p:txBody>
      </p:sp>
      <p:sp>
        <p:nvSpPr>
          <p:cNvPr id="19" name="Shape 17"/>
          <p:cNvSpPr/>
          <p:nvPr/>
        </p:nvSpPr>
        <p:spPr>
          <a:xfrm>
            <a:off x="815975" y="5235575"/>
            <a:ext cx="4438650" cy="755650"/>
          </a:xfrm>
          <a:prstGeom prst="roundRect">
            <a:avLst>
              <a:gd name="adj" fmla="val 9664"/>
            </a:avLst>
          </a:prstGeom>
          <a:solidFill>
            <a:srgbClr val="FFFFFF"/>
          </a:solidFill>
          <a:ln w="6350">
            <a:solidFill>
              <a:srgbClr val="9AA6B6"/>
            </a:solidFill>
            <a:prstDash val="solid"/>
          </a:ln>
        </p:spPr>
      </p:sp>
      <p:sp>
        <p:nvSpPr>
          <p:cNvPr id="20" name="Text 18"/>
          <p:cNvSpPr/>
          <p:nvPr/>
        </p:nvSpPr>
        <p:spPr>
          <a:xfrm>
            <a:off x="993987" y="5375486"/>
            <a:ext cx="4205106" cy="245216"/>
          </a:xfrm>
          <a:prstGeom prst="rect">
            <a:avLst/>
          </a:prstGeom>
          <a:noFill/>
          <a:ln/>
        </p:spPr>
        <p:txBody>
          <a:bodyPr wrap="square" lIns="0" tIns="0" rIns="0" bIns="0" rtlCol="0" anchor="t">
            <a:normAutofit/>
          </a:bodyPr>
          <a:lstStyle/>
          <a:p>
            <a:pPr algn="l" indent="0" marL="0">
              <a:lnSpc>
                <a:spcPts val="1772"/>
              </a:lnSpc>
              <a:buNone/>
            </a:pPr>
            <a:r>
              <a:rPr lang="en-US" sz="1477" b="1" dirty="0">
                <a:solidFill>
                  <a:srgbClr val="0F1B2D"/>
                </a:solidFill>
                <a:latin typeface="IBM Plex Sans" pitchFamily="34" charset="0"/>
                <a:ea typeface="IBM Plex Sans" pitchFamily="34" charset="-122"/>
                <a:cs typeface="IBM Plex Sans" pitchFamily="34" charset="-120"/>
              </a:rPr>
              <a:t>Customer apps</a:t>
            </a:r>
            <a:endParaRPr lang="en-US" sz="1477" dirty="0"/>
          </a:p>
        </p:txBody>
      </p:sp>
      <p:sp>
        <p:nvSpPr>
          <p:cNvPr id="21" name="Text 19"/>
          <p:cNvSpPr/>
          <p:nvPr/>
        </p:nvSpPr>
        <p:spPr>
          <a:xfrm>
            <a:off x="993987" y="5646102"/>
            <a:ext cx="4205106" cy="230611"/>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4A5568"/>
                </a:solidFill>
                <a:latin typeface="IBM Plex Sans" pitchFamily="34" charset="0"/>
                <a:ea typeface="IBM Plex Sans" pitchFamily="34" charset="-122"/>
                <a:cs typeface="IBM Plex Sans" pitchFamily="34" charset="-120"/>
              </a:rPr>
              <a:t>OpenAI SDK, same code as the prototype</a:t>
            </a:r>
            <a:endParaRPr lang="en-US" sz="1159" dirty="0"/>
          </a:p>
        </p:txBody>
      </p:sp>
      <p:sp>
        <p:nvSpPr>
          <p:cNvPr id="22" name="Shape 20"/>
          <p:cNvSpPr/>
          <p:nvPr/>
        </p:nvSpPr>
        <p:spPr>
          <a:xfrm>
            <a:off x="6937375" y="5235575"/>
            <a:ext cx="4438650" cy="755650"/>
          </a:xfrm>
          <a:prstGeom prst="roundRect">
            <a:avLst>
              <a:gd name="adj" fmla="val 9664"/>
            </a:avLst>
          </a:prstGeom>
          <a:solidFill>
            <a:srgbClr val="FFFFFF"/>
          </a:solidFill>
          <a:ln w="6350">
            <a:solidFill>
              <a:srgbClr val="9AA6B6"/>
            </a:solidFill>
            <a:prstDash val="dash"/>
          </a:ln>
        </p:spPr>
      </p:sp>
      <p:sp>
        <p:nvSpPr>
          <p:cNvPr id="23" name="Text 21"/>
          <p:cNvSpPr/>
          <p:nvPr/>
        </p:nvSpPr>
        <p:spPr>
          <a:xfrm>
            <a:off x="7115387" y="5375486"/>
            <a:ext cx="4205106" cy="245216"/>
          </a:xfrm>
          <a:prstGeom prst="rect">
            <a:avLst/>
          </a:prstGeom>
          <a:noFill/>
          <a:ln/>
        </p:spPr>
        <p:txBody>
          <a:bodyPr wrap="square" lIns="0" tIns="0" rIns="0" bIns="0" rtlCol="0" anchor="t">
            <a:normAutofit/>
          </a:bodyPr>
          <a:lstStyle/>
          <a:p>
            <a:pPr algn="l" indent="0" marL="0">
              <a:lnSpc>
                <a:spcPts val="1772"/>
              </a:lnSpc>
              <a:buNone/>
            </a:pPr>
            <a:r>
              <a:rPr lang="en-US" sz="1477" b="1" dirty="0">
                <a:solidFill>
                  <a:srgbClr val="0F1B2D"/>
                </a:solidFill>
                <a:latin typeface="IBM Plex Sans" pitchFamily="34" charset="0"/>
                <a:ea typeface="IBM Plex Sans" pitchFamily="34" charset="-122"/>
                <a:cs typeface="IBM Plex Sans" pitchFamily="34" charset="-120"/>
              </a:rPr>
              <a:t>Developer workstation</a:t>
            </a:r>
            <a:endParaRPr lang="en-US" sz="1477" dirty="0"/>
          </a:p>
        </p:txBody>
      </p:sp>
      <p:sp>
        <p:nvSpPr>
          <p:cNvPr id="24" name="Text 22"/>
          <p:cNvSpPr/>
          <p:nvPr/>
        </p:nvSpPr>
        <p:spPr>
          <a:xfrm>
            <a:off x="7115387" y="5646102"/>
            <a:ext cx="4205106" cy="230611"/>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4A5568"/>
                </a:solidFill>
                <a:latin typeface="IBM Plex Sans" pitchFamily="34" charset="0"/>
                <a:ea typeface="IBM Plex Sans" pitchFamily="34" charset="-122"/>
                <a:cs typeface="IBM Plex Sans" pitchFamily="34" charset="-120"/>
              </a:rPr>
              <a:t>Foundry Local on an RTX 5070 Ti PC</a:t>
            </a:r>
            <a:endParaRPr lang="en-US" sz="1159" dirty="0"/>
          </a:p>
        </p:txBody>
      </p:sp>
      <p:sp>
        <p:nvSpPr>
          <p:cNvPr id="25" name="Text 23"/>
          <p:cNvSpPr/>
          <p:nvPr/>
        </p:nvSpPr>
        <p:spPr>
          <a:xfrm>
            <a:off x="5308600" y="5270500"/>
            <a:ext cx="1574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3415C"/>
                </a:solidFill>
                <a:latin typeface="IBM Plex Sans" pitchFamily="34" charset="0"/>
                <a:ea typeface="IBM Plex Sans" pitchFamily="34" charset="-122"/>
                <a:cs typeface="IBM Plex Sans" pitchFamily="34" charset="-120"/>
              </a:rPr>
              <a:t>change base_url</a:t>
            </a:r>
            <a:endParaRPr lang="en-US" sz="1200" dirty="0"/>
          </a:p>
        </p:txBody>
      </p:sp>
      <p:pic>
        <p:nvPicPr>
          <p:cNvPr id="26" name="Image 0" descr="connector">    </p:cNvPr>
          <p:cNvPicPr>
            <a:picLocks noChangeAspect="1"/>
          </p:cNvPicPr>
          <p:nvPr/>
        </p:nvPicPr>
        <p:blipFill>
          <a:blip r:embed="rId1"/>
          <a:srcRect l="0" r="0" t="0" b="0"/>
          <a:stretch/>
        </p:blipFill>
        <p:spPr>
          <a:xfrm>
            <a:off x="2540000" y="1955800"/>
            <a:ext cx="101600" cy="762000"/>
          </a:xfrm>
          <a:prstGeom prst="rect">
            <a:avLst/>
          </a:prstGeom>
        </p:spPr>
      </p:pic>
      <p:pic>
        <p:nvPicPr>
          <p:cNvPr id="27" name="Image 1" descr="connector">    </p:cNvPr>
          <p:cNvPicPr>
            <a:picLocks noChangeAspect="1"/>
          </p:cNvPicPr>
          <p:nvPr/>
        </p:nvPicPr>
        <p:blipFill>
          <a:blip r:embed="rId2"/>
          <a:srcRect l="0" r="0" t="0" b="0"/>
          <a:stretch/>
        </p:blipFill>
        <p:spPr>
          <a:xfrm>
            <a:off x="4064000" y="3175000"/>
            <a:ext cx="558800" cy="101600"/>
          </a:xfrm>
          <a:prstGeom prst="rect">
            <a:avLst/>
          </a:prstGeom>
        </p:spPr>
      </p:pic>
      <p:pic>
        <p:nvPicPr>
          <p:cNvPr id="28" name="Image 2" descr="connector">    </p:cNvPr>
          <p:cNvPicPr>
            <a:picLocks noChangeAspect="1"/>
          </p:cNvPicPr>
          <p:nvPr/>
        </p:nvPicPr>
        <p:blipFill>
          <a:blip r:embed="rId3"/>
          <a:srcRect l="0" r="0" t="0" b="0"/>
          <a:stretch/>
        </p:blipFill>
        <p:spPr>
          <a:xfrm>
            <a:off x="7569201" y="3175000"/>
            <a:ext cx="558800" cy="101600"/>
          </a:xfrm>
          <a:prstGeom prst="rect">
            <a:avLst/>
          </a:prstGeom>
        </p:spPr>
      </p:pic>
      <p:pic>
        <p:nvPicPr>
          <p:cNvPr id="29" name="Image 3" descr="connector">    </p:cNvPr>
          <p:cNvPicPr>
            <a:picLocks noChangeAspect="1"/>
          </p:cNvPicPr>
          <p:nvPr/>
        </p:nvPicPr>
        <p:blipFill>
          <a:blip r:embed="rId4"/>
          <a:srcRect l="0" r="0" t="0" b="0"/>
          <a:stretch/>
        </p:blipFill>
        <p:spPr>
          <a:xfrm>
            <a:off x="8902701" y="3733800"/>
            <a:ext cx="749300" cy="825500"/>
          </a:xfrm>
          <a:prstGeom prst="rect">
            <a:avLst/>
          </a:prstGeom>
        </p:spPr>
      </p:pic>
      <p:pic>
        <p:nvPicPr>
          <p:cNvPr id="30" name="Image 4" descr="connector">    </p:cNvPr>
          <p:cNvPicPr>
            <a:picLocks noChangeAspect="1"/>
          </p:cNvPicPr>
          <p:nvPr/>
        </p:nvPicPr>
        <p:blipFill>
          <a:blip r:embed="rId5"/>
          <a:srcRect l="0" r="0" t="0" b="0"/>
          <a:stretch/>
        </p:blipFill>
        <p:spPr>
          <a:xfrm>
            <a:off x="4394200" y="4851400"/>
            <a:ext cx="101600" cy="431800"/>
          </a:xfrm>
          <a:prstGeom prst="rect">
            <a:avLst/>
          </a:prstGeom>
        </p:spPr>
      </p:pic>
      <p:pic>
        <p:nvPicPr>
          <p:cNvPr id="31" name="Image 5" descr="connector">    </p:cNvPr>
          <p:cNvPicPr>
            <a:picLocks noChangeAspect="1"/>
          </p:cNvPicPr>
          <p:nvPr/>
        </p:nvPicPr>
        <p:blipFill>
          <a:blip r:embed="rId6"/>
          <a:srcRect l="0" r="0" t="0" b="0"/>
          <a:stretch/>
        </p:blipFill>
        <p:spPr>
          <a:xfrm>
            <a:off x="5207000" y="5562600"/>
            <a:ext cx="1778000" cy="101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EB"/>
                </a:solidFill>
                <a:latin typeface="IBM Plex Sans" pitchFamily="34" charset="0"/>
                <a:ea typeface="IBM Plex Sans" pitchFamily="34" charset="-122"/>
                <a:cs typeface="IBM Plex Sans" pitchFamily="34" charset="-120"/>
              </a:rPr>
              <a:t>DEPLOYMENT</a:t>
            </a:r>
            <a:endParaRPr lang="en-US" sz="1200" dirty="0"/>
          </a:p>
        </p:txBody>
      </p:sp>
      <p:sp>
        <p:nvSpPr>
          <p:cNvPr id="3" name="Text 1"/>
          <p:cNvSpPr/>
          <p:nvPr>
            <p:ph type="title"/>
          </p:nvPr>
        </p:nvSpPr>
        <p:spPr>
          <a:xfrm>
            <a:off x="812800" y="1127761"/>
            <a:ext cx="10883393"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One YAML file per model</a:t>
            </a:r>
            <a:endParaRPr lang="en-US" sz="3200" dirty="0"/>
          </a:p>
        </p:txBody>
      </p:sp>
      <p:sp>
        <p:nvSpPr>
          <p:cNvPr id="4" name="Text 2"/>
          <p:cNvSpPr/>
          <p:nvPr/>
        </p:nvSpPr>
        <p:spPr>
          <a:xfrm>
            <a:off x="869791" y="1879600"/>
            <a:ext cx="5481733" cy="2016760"/>
          </a:xfrm>
          <a:prstGeom prst="rect">
            <a:avLst/>
          </a:prstGeom>
          <a:noFill/>
          <a:ln/>
        </p:spPr>
        <p:txBody>
          <a:bodyPr wrap="square" lIns="0" tIns="0" rIns="0" bIns="0" rtlCol="0" anchor="t">
            <a:normAutofit/>
          </a:bodyPr>
          <a:lstStyle/>
          <a:p>
            <a:pPr algn="l" marL="197009" indent="-197009">
              <a:lnSpc>
                <a:spcPts val="1960"/>
              </a:lnSpc>
              <a:buSzPct val="100000"/>
              <a:buFontTx/>
              <a:buAutoNum type="arabicPeriod" startAt="1"/>
            </a:pPr>
            <a:r>
              <a:rPr lang="en-US" sz="1400" b="1" dirty="0">
                <a:solidFill>
                  <a:srgbClr val="33415C"/>
                </a:solidFill>
                <a:latin typeface="IBM Plex Sans" pitchFamily="34" charset="0"/>
                <a:ea typeface="IBM Plex Sans" pitchFamily="34" charset="-122"/>
                <a:cs typeface="IBM Plex Sans" pitchFamily="34" charset="-120"/>
              </a:rPr>
              <a:t>Prerequisites:</a:t>
            </a:r>
            <a:r>
              <a:rPr lang="en-US" sz="1400" dirty="0">
                <a:solidFill>
                  <a:srgbClr val="33415C"/>
                </a:solidFill>
                <a:latin typeface="IBM Plex Sans" pitchFamily="34" charset="0"/>
                <a:ea typeface="IBM Plex Sans" pitchFamily="34" charset="-122"/>
                <a:cs typeface="IBM Plex Sans" pitchFamily="34" charset="-120"/>
              </a:rPr>
              <a:t> Azure Local, an AKS Arc cluster on Kubernetes 1.29+, preview access</a:t>
            </a:r>
            <a:endParaRPr lang="en-US" sz="1400" dirty="0"/>
          </a:p>
          <a:p>
            <a:pPr algn="l" marL="197009" indent="-197009">
              <a:lnSpc>
                <a:spcPts val="1960"/>
              </a:lnSpc>
              <a:buSzPct val="100000"/>
              <a:buFontTx/>
              <a:buAutoNum type="arabicPeriod" startAt="1"/>
            </a:pPr>
            <a:r>
              <a:rPr lang="en-US" sz="1400" b="1" dirty="0">
                <a:solidFill>
                  <a:srgbClr val="33415C"/>
                </a:solidFill>
                <a:latin typeface="IBM Plex Sans" pitchFamily="34" charset="0"/>
                <a:ea typeface="IBM Plex Sans" pitchFamily="34" charset="-122"/>
                <a:cs typeface="IBM Plex Sans" pitchFamily="34" charset="-120"/>
              </a:rPr>
              <a:t>Platform:</a:t>
            </a:r>
            <a:r>
              <a:rPr lang="en-US" sz="1400" dirty="0">
                <a:solidFill>
                  <a:srgbClr val="33415C"/>
                </a:solidFill>
                <a:latin typeface="IBM Plex Sans" pitchFamily="34" charset="0"/>
                <a:ea typeface="IBM Plex Sans" pitchFamily="34" charset="-122"/>
                <a:cs typeface="IBM Plex Sans" pitchFamily="34" charset="-120"/>
              </a:rPr>
              <a:t> cert-manager, trust-manager and a Gateway API provider</a:t>
            </a:r>
            <a:endParaRPr lang="en-US" sz="1400" dirty="0"/>
          </a:p>
          <a:p>
            <a:pPr algn="l" marL="197009" indent="-197009">
              <a:lnSpc>
                <a:spcPts val="1960"/>
              </a:lnSpc>
              <a:buSzPct val="100000"/>
              <a:buFontTx/>
              <a:buAutoNum type="arabicPeriod" startAt="1"/>
            </a:pPr>
            <a:r>
              <a:rPr lang="en-US" sz="1400" b="1" dirty="0">
                <a:solidFill>
                  <a:srgbClr val="33415C"/>
                </a:solidFill>
                <a:latin typeface="IBM Plex Sans" pitchFamily="34" charset="0"/>
                <a:ea typeface="IBM Plex Sans" pitchFamily="34" charset="-122"/>
                <a:cs typeface="IBM Plex Sans" pitchFamily="34" charset="-120"/>
              </a:rPr>
              <a:t>Install</a:t>
            </a:r>
            <a:r>
              <a:rPr lang="en-US" sz="1400" dirty="0">
                <a:solidFill>
                  <a:srgbClr val="33415C"/>
                </a:solidFill>
                <a:latin typeface="IBM Plex Sans" pitchFamily="34" charset="0"/>
                <a:ea typeface="IBM Plex Sans" pitchFamily="34" charset="-122"/>
                <a:cs typeface="IBM Plex Sans" pitchFamily="34" charset="-120"/>
              </a:rPr>
              <a:t> the Arc extension Microsoft.Foundry, from the portal or az CLI</a:t>
            </a:r>
            <a:endParaRPr lang="en-US" sz="1400" dirty="0"/>
          </a:p>
          <a:p>
            <a:pPr algn="l" marL="197009" indent="-197009">
              <a:lnSpc>
                <a:spcPts val="1960"/>
              </a:lnSpc>
              <a:buSzPct val="100000"/>
              <a:buFontTx/>
              <a:buAutoNum type="arabicPeriod" startAt="1"/>
            </a:pPr>
            <a:r>
              <a:rPr lang="en-US" sz="1400" b="1" dirty="0">
                <a:solidFill>
                  <a:srgbClr val="33415C"/>
                </a:solidFill>
                <a:latin typeface="IBM Plex Sans" pitchFamily="34" charset="0"/>
                <a:ea typeface="IBM Plex Sans" pitchFamily="34" charset="-122"/>
                <a:cs typeface="IBM Plex Sans" pitchFamily="34" charset="-120"/>
              </a:rPr>
              <a:t>Apply</a:t>
            </a:r>
            <a:r>
              <a:rPr lang="en-US" sz="1400" dirty="0">
                <a:solidFill>
                  <a:srgbClr val="33415C"/>
                </a:solidFill>
                <a:latin typeface="IBM Plex Sans" pitchFamily="34" charset="0"/>
                <a:ea typeface="IBM Plex Sans" pitchFamily="34" charset="-122"/>
                <a:cs typeface="IBM Plex Sans" pitchFamily="34" charset="-120"/>
              </a:rPr>
              <a:t> a ModelDeployment for each model</a:t>
            </a:r>
            <a:endParaRPr lang="en-US" sz="1400" dirty="0"/>
          </a:p>
          <a:p>
            <a:pPr algn="l" marL="197009" indent="-197009">
              <a:lnSpc>
                <a:spcPts val="1960"/>
              </a:lnSpc>
              <a:buSzPct val="100000"/>
              <a:buFontTx/>
              <a:buAutoNum type="arabicPeriod" startAt="1"/>
            </a:pPr>
            <a:r>
              <a:rPr lang="en-US" sz="1400" b="1" dirty="0">
                <a:solidFill>
                  <a:srgbClr val="33415C"/>
                </a:solidFill>
                <a:latin typeface="IBM Plex Sans" pitchFamily="34" charset="0"/>
                <a:ea typeface="IBM Plex Sans" pitchFamily="34" charset="-122"/>
                <a:cs typeface="IBM Plex Sans" pitchFamily="34" charset="-120"/>
              </a:rPr>
              <a:t>Call</a:t>
            </a:r>
            <a:r>
              <a:rPr lang="en-US" sz="1400" dirty="0">
                <a:solidFill>
                  <a:srgbClr val="33415C"/>
                </a:solidFill>
                <a:latin typeface="IBM Plex Sans" pitchFamily="34" charset="0"/>
                <a:ea typeface="IBM Plex Sans" pitchFamily="34" charset="-122"/>
                <a:cs typeface="IBM Plex Sans" pitchFamily="34" charset="-120"/>
              </a:rPr>
              <a:t> the OpenAI-compatible endpoint on port 5000</a:t>
            </a:r>
            <a:endParaRPr lang="en-US" sz="1400" dirty="0"/>
          </a:p>
        </p:txBody>
      </p:sp>
      <p:sp>
        <p:nvSpPr>
          <p:cNvPr id="5" name="Text 3"/>
          <p:cNvSpPr/>
          <p:nvPr/>
        </p:nvSpPr>
        <p:spPr>
          <a:xfrm>
            <a:off x="812800" y="4023361"/>
            <a:ext cx="5384800" cy="680720"/>
          </a:xfrm>
          <a:prstGeom prst="roundRect">
            <a:avLst>
              <a:gd name="adj" fmla="val 11194"/>
            </a:avLst>
          </a:prstGeom>
          <a:solidFill>
            <a:srgbClr val="E7EFFD"/>
          </a:solidFill>
          <a:ln/>
        </p:spPr>
        <p:txBody>
          <a:bodyPr wrap="square" lIns="130082" tIns="104682" rIns="0" bIns="79282"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Disconnected site: import the Foundry Local expansion pack before installing the extension</a:t>
            </a:r>
            <a:endParaRPr lang="en-US" sz="1200" dirty="0"/>
          </a:p>
        </p:txBody>
      </p:sp>
      <p:sp>
        <p:nvSpPr>
          <p:cNvPr id="6" name="Text 4"/>
          <p:cNvSpPr/>
          <p:nvPr/>
        </p:nvSpPr>
        <p:spPr>
          <a:xfrm>
            <a:off x="6553200" y="1879600"/>
            <a:ext cx="4826000" cy="3962400"/>
          </a:xfrm>
          <a:prstGeom prst="roundRect">
            <a:avLst>
              <a:gd name="adj" fmla="val 2564"/>
            </a:avLst>
          </a:prstGeom>
          <a:solidFill>
            <a:srgbClr val="0F1B2D"/>
          </a:solidFill>
          <a:ln/>
        </p:spPr>
        <p:txBody>
          <a:bodyPr wrap="square" lIns="224242" tIns="198842" rIns="94702" bIns="198842" rtlCol="0" anchor="t">
            <a:normAutofit/>
          </a:bodyPr>
          <a:lstStyle/>
          <a:p>
            <a:pPr algn="l" indent="0" marL="0">
              <a:lnSpc>
                <a:spcPts val="1740"/>
              </a:lnSpc>
              <a:buNone/>
            </a:pPr>
            <a:r>
              <a:rPr lang="en-US" sz="1200" dirty="0">
                <a:solidFill>
                  <a:srgbClr val="D8E2F0"/>
                </a:solidFill>
                <a:latin typeface="JetBrains Mono" pitchFamily="49" charset="0"/>
                <a:ea typeface="JetBrains Mono" pitchFamily="49" charset="-122"/>
                <a:cs typeface="JetBrains Mono" pitchFamily="49" charset="-120"/>
              </a:rPr>
              <a:t>apiVersion: foundrylocal.azure.com/v1</a:t>
            </a:r>
            <a:endParaRPr lang="en-US" sz="1200" dirty="0"/>
          </a:p>
          <a:p>
            <a:pPr algn="l" indent="0" marL="0">
              <a:lnSpc>
                <a:spcPts val="1740"/>
              </a:lnSpc>
              <a:buNone/>
            </a:pPr>
            <a:r>
              <a:rPr lang="en-US" sz="1200" dirty="0">
                <a:solidFill>
                  <a:srgbClr val="D8E2F0"/>
                </a:solidFill>
                <a:latin typeface="JetBrains Mono" pitchFamily="49" charset="0"/>
                <a:ea typeface="JetBrains Mono" pitchFamily="49" charset="-122"/>
                <a:cs typeface="JetBrains Mono" pitchFamily="49" charset="-120"/>
              </a:rPr>
              <a:t>kind: ModelDeployment</a:t>
            </a:r>
            <a:endParaRPr lang="en-US" sz="1200" dirty="0"/>
          </a:p>
          <a:p>
            <a:pPr algn="l" indent="0" marL="0">
              <a:lnSpc>
                <a:spcPts val="1740"/>
              </a:lnSpc>
              <a:buNone/>
            </a:pPr>
            <a:r>
              <a:rPr lang="en-US" sz="1200" dirty="0">
                <a:solidFill>
                  <a:srgbClr val="D8E2F0"/>
                </a:solidFill>
                <a:latin typeface="JetBrains Mono" pitchFamily="49" charset="0"/>
                <a:ea typeface="JetBrains Mono" pitchFamily="49" charset="-122"/>
                <a:cs typeface="JetBrains Mono" pitchFamily="49" charset="-120"/>
              </a:rPr>
              <a:t>metadata:</a:t>
            </a:r>
            <a:endParaRPr lang="en-US" sz="1200" dirty="0"/>
          </a:p>
          <a:p>
            <a:pPr algn="l" indent="0" marL="0">
              <a:lnSpc>
                <a:spcPts val="1740"/>
              </a:lnSpc>
              <a:buNone/>
            </a:pPr>
            <a:r>
              <a:rPr lang="en-US" sz="1200" dirty="0">
                <a:solidFill>
                  <a:srgbClr val="D8E2F0"/>
                </a:solidFill>
                <a:latin typeface="JetBrains Mono" pitchFamily="49" charset="0"/>
                <a:ea typeface="JetBrains Mono" pitchFamily="49" charset="-122"/>
                <a:cs typeface="JetBrains Mono" pitchFamily="49" charset="-120"/>
              </a:rPr>
              <a:t>  name: gpt-oss-20b</a:t>
            </a:r>
            <a:endParaRPr lang="en-US" sz="1200" dirty="0"/>
          </a:p>
          <a:p>
            <a:pPr algn="l" indent="0" marL="0">
              <a:lnSpc>
                <a:spcPts val="1740"/>
              </a:lnSpc>
              <a:buNone/>
            </a:pPr>
            <a:r>
              <a:rPr lang="en-US" sz="1200" dirty="0">
                <a:solidFill>
                  <a:srgbClr val="D8E2F0"/>
                </a:solidFill>
                <a:latin typeface="JetBrains Mono" pitchFamily="49" charset="0"/>
                <a:ea typeface="JetBrains Mono" pitchFamily="49" charset="-122"/>
                <a:cs typeface="JetBrains Mono" pitchFamily="49" charset="-120"/>
              </a:rPr>
              <a:t>  namespace: foundry-local-operator</a:t>
            </a:r>
            <a:endParaRPr lang="en-US" sz="1200" dirty="0"/>
          </a:p>
          <a:p>
            <a:pPr algn="l" indent="0" marL="0">
              <a:lnSpc>
                <a:spcPts val="1740"/>
              </a:lnSpc>
              <a:buNone/>
            </a:pPr>
            <a:r>
              <a:rPr lang="en-US" sz="1200" dirty="0">
                <a:solidFill>
                  <a:srgbClr val="D8E2F0"/>
                </a:solidFill>
                <a:latin typeface="JetBrains Mono" pitchFamily="49" charset="0"/>
                <a:ea typeface="JetBrains Mono" pitchFamily="49" charset="-122"/>
                <a:cs typeface="JetBrains Mono" pitchFamily="49" charset="-120"/>
              </a:rPr>
              <a:t>spec:</a:t>
            </a:r>
            <a:endParaRPr lang="en-US" sz="1200" dirty="0"/>
          </a:p>
          <a:p>
            <a:pPr algn="l" indent="0" marL="0">
              <a:lnSpc>
                <a:spcPts val="1740"/>
              </a:lnSpc>
              <a:buNone/>
            </a:pPr>
            <a:r>
              <a:rPr lang="en-US" sz="1200" dirty="0">
                <a:solidFill>
                  <a:srgbClr val="D8E2F0"/>
                </a:solidFill>
                <a:latin typeface="JetBrains Mono" pitchFamily="49" charset="0"/>
                <a:ea typeface="JetBrains Mono" pitchFamily="49" charset="-122"/>
                <a:cs typeface="JetBrains Mono" pitchFamily="49" charset="-120"/>
              </a:rPr>
              <a:t>  workloadType: generative</a:t>
            </a:r>
            <a:endParaRPr lang="en-US" sz="1200" dirty="0"/>
          </a:p>
          <a:p>
            <a:pPr algn="l" indent="0" marL="0">
              <a:lnSpc>
                <a:spcPts val="1740"/>
              </a:lnSpc>
              <a:buNone/>
            </a:pPr>
            <a:r>
              <a:rPr lang="en-US" sz="1200" dirty="0">
                <a:solidFill>
                  <a:srgbClr val="D8E2F0"/>
                </a:solidFill>
                <a:latin typeface="JetBrains Mono" pitchFamily="49" charset="0"/>
                <a:ea typeface="JetBrains Mono" pitchFamily="49" charset="-122"/>
                <a:cs typeface="JetBrains Mono" pitchFamily="49" charset="-120"/>
              </a:rPr>
              <a:t>  compute: gpu</a:t>
            </a:r>
            <a:endParaRPr lang="en-US" sz="1200" dirty="0"/>
          </a:p>
          <a:p>
            <a:pPr algn="l" indent="0" marL="0">
              <a:lnSpc>
                <a:spcPts val="1740"/>
              </a:lnSpc>
              <a:buNone/>
            </a:pPr>
            <a:r>
              <a:rPr lang="en-US" sz="1200" dirty="0">
                <a:solidFill>
                  <a:srgbClr val="D8E2F0"/>
                </a:solidFill>
                <a:latin typeface="JetBrains Mono" pitchFamily="49" charset="0"/>
                <a:ea typeface="JetBrains Mono" pitchFamily="49" charset="-122"/>
                <a:cs typeface="JetBrains Mono" pitchFamily="49" charset="-120"/>
              </a:rPr>
              <a:t>  runtime: vllm</a:t>
            </a:r>
            <a:endParaRPr lang="en-US" sz="1200" dirty="0"/>
          </a:p>
          <a:p>
            <a:pPr algn="l" indent="0" marL="0">
              <a:lnSpc>
                <a:spcPts val="1740"/>
              </a:lnSpc>
              <a:buNone/>
            </a:pPr>
            <a:r>
              <a:rPr lang="en-US" sz="1200" dirty="0">
                <a:solidFill>
                  <a:srgbClr val="D8E2F0"/>
                </a:solidFill>
                <a:latin typeface="JetBrains Mono" pitchFamily="49" charset="0"/>
                <a:ea typeface="JetBrains Mono" pitchFamily="49" charset="-122"/>
                <a:cs typeface="JetBrains Mono" pitchFamily="49" charset="-120"/>
              </a:rPr>
              <a:t>  model:</a:t>
            </a:r>
            <a:endParaRPr lang="en-US" sz="1200" dirty="0"/>
          </a:p>
          <a:p>
            <a:pPr algn="l" indent="0" marL="0">
              <a:lnSpc>
                <a:spcPts val="1740"/>
              </a:lnSpc>
              <a:buNone/>
            </a:pPr>
            <a:r>
              <a:rPr lang="en-US" sz="1200" dirty="0">
                <a:solidFill>
                  <a:srgbClr val="D8E2F0"/>
                </a:solidFill>
                <a:latin typeface="JetBrains Mono" pitchFamily="49" charset="0"/>
                <a:ea typeface="JetBrains Mono" pitchFamily="49" charset="-122"/>
                <a:cs typeface="JetBrains Mono" pitchFamily="49" charset="-120"/>
              </a:rPr>
              <a:t>    catalog:</a:t>
            </a:r>
            <a:endParaRPr lang="en-US" sz="1200" dirty="0"/>
          </a:p>
          <a:p>
            <a:pPr algn="l" indent="0" marL="0">
              <a:lnSpc>
                <a:spcPts val="1740"/>
              </a:lnSpc>
              <a:buNone/>
            </a:pPr>
            <a:r>
              <a:rPr lang="en-US" sz="1200" dirty="0">
                <a:solidFill>
                  <a:srgbClr val="D8E2F0"/>
                </a:solidFill>
                <a:latin typeface="JetBrains Mono" pitchFamily="49" charset="0"/>
                <a:ea typeface="JetBrains Mono" pitchFamily="49" charset="-122"/>
                <a:cs typeface="JetBrains Mono" pitchFamily="49" charset="-120"/>
              </a:rPr>
              <a:t>      name: gpt-oss-20b</a:t>
            </a:r>
            <a:endParaRPr lang="en-US" sz="1200" dirty="0"/>
          </a:p>
          <a:p>
            <a:pPr algn="l" indent="0" marL="0">
              <a:lnSpc>
                <a:spcPts val="1740"/>
              </a:lnSpc>
              <a:buNone/>
            </a:pPr>
            <a:r>
              <a:rPr lang="en-US" sz="1200" dirty="0">
                <a:solidFill>
                  <a:srgbClr val="D8E2F0"/>
                </a:solidFill>
                <a:latin typeface="JetBrains Mono" pitchFamily="49" charset="0"/>
                <a:ea typeface="JetBrains Mono" pitchFamily="49" charset="-122"/>
                <a:cs typeface="JetBrains Mono" pitchFamily="49" charset="-120"/>
              </a:rPr>
              <a:t>      version: "latest"</a:t>
            </a:r>
            <a:endParaRPr lang="en-US" sz="1200" dirty="0"/>
          </a:p>
          <a:p>
            <a:pPr algn="l" indent="0" marL="0">
              <a:lnSpc>
                <a:spcPts val="1740"/>
              </a:lnSpc>
              <a:buNone/>
            </a:pPr>
            <a:r>
              <a:rPr lang="en-US" sz="1200" dirty="0">
                <a:solidFill>
                  <a:srgbClr val="D8E2F0"/>
                </a:solidFill>
                <a:latin typeface="JetBrains Mono" pitchFamily="49" charset="0"/>
                <a:ea typeface="JetBrains Mono" pitchFamily="49" charset="-122"/>
                <a:cs typeface="JetBrains Mono" pitchFamily="49" charset="-120"/>
              </a:rPr>
              <a:t>  replicas: 1</a:t>
            </a:r>
            <a:endParaRPr lang="en-US" sz="1200" dirty="0"/>
          </a:p>
        </p:txBody>
      </p:sp>
      <p:sp>
        <p:nvSpPr>
          <p:cNvPr id="7" name="Text 5"/>
          <p:cNvSpPr/>
          <p:nvPr/>
        </p:nvSpPr>
        <p:spPr>
          <a:xfrm>
            <a:off x="812800" y="6238239"/>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484"/>
                </a:solidFill>
                <a:latin typeface="IBM Plex Sans" pitchFamily="34" charset="0"/>
                <a:ea typeface="IBM Plex Sans" pitchFamily="34" charset="-122"/>
                <a:cs typeface="IBM Plex Sans" pitchFamily="34" charset="-120"/>
              </a:rPr>
              <a:t>Source: Microsoft Learn, Deploy Foundry Local as an Azure Arc extension; Create your language model endpoint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FA8F5"/>
                </a:solidFill>
                <a:latin typeface="IBM Plex Sans" pitchFamily="34" charset="0"/>
                <a:ea typeface="IBM Plex Sans" pitchFamily="34" charset="-122"/>
                <a:cs typeface="IBM Plex Sans" pitchFamily="34" charset="-120"/>
              </a:rPr>
              <a:t>LIVE DEMO</a:t>
            </a:r>
            <a:endParaRPr lang="en-US" sz="1200" dirty="0"/>
          </a:p>
        </p:txBody>
      </p:sp>
      <p:sp>
        <p:nvSpPr>
          <p:cNvPr id="3" name="Text 1"/>
          <p:cNvSpPr/>
          <p:nvPr>
            <p:ph type="title"/>
          </p:nvPr>
        </p:nvSpPr>
        <p:spPr>
          <a:xfrm>
            <a:off x="812800" y="1127761"/>
            <a:ext cx="10883393"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6F7F4"/>
                </a:solidFill>
                <a:latin typeface="IBM Plex Sans" pitchFamily="34" charset="0"/>
                <a:ea typeface="IBM Plex Sans" pitchFamily="34" charset="-122"/>
                <a:cs typeface="IBM Plex Sans" pitchFamily="34" charset="-120"/>
              </a:rPr>
              <a:t>What you’ll see in the next 15 minutes</a:t>
            </a:r>
            <a:endParaRPr lang="en-US" sz="3200" dirty="0"/>
          </a:p>
        </p:txBody>
      </p:sp>
      <p:sp>
        <p:nvSpPr>
          <p:cNvPr id="4" name="Shape 2"/>
          <p:cNvSpPr/>
          <p:nvPr/>
        </p:nvSpPr>
        <p:spPr>
          <a:xfrm>
            <a:off x="812800" y="1933575"/>
            <a:ext cx="10566401" cy="0"/>
          </a:xfrm>
          <a:prstGeom prst="line">
            <a:avLst/>
          </a:prstGeom>
          <a:noFill/>
          <a:ln w="6350">
            <a:solidFill>
              <a:srgbClr val="2C3D57"/>
            </a:solidFill>
            <a:prstDash val="solid"/>
          </a:ln>
        </p:spPr>
      </p:sp>
      <p:sp>
        <p:nvSpPr>
          <p:cNvPr id="5" name="Text 3"/>
          <p:cNvSpPr/>
          <p:nvPr/>
        </p:nvSpPr>
        <p:spPr>
          <a:xfrm>
            <a:off x="812800" y="2073486"/>
            <a:ext cx="55880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F6FEB"/>
                </a:solidFill>
                <a:latin typeface="IBM Plex Sans" pitchFamily="34" charset="0"/>
                <a:ea typeface="IBM Plex Sans" pitchFamily="34" charset="-122"/>
                <a:cs typeface="IBM Plex Sans" pitchFamily="34" charset="-120"/>
              </a:rPr>
              <a:t>1</a:t>
            </a:r>
            <a:endParaRPr lang="en-US" sz="2200" dirty="0"/>
          </a:p>
        </p:txBody>
      </p:sp>
      <p:sp>
        <p:nvSpPr>
          <p:cNvPr id="6" name="Text 4"/>
          <p:cNvSpPr/>
          <p:nvPr/>
        </p:nvSpPr>
        <p:spPr>
          <a:xfrm>
            <a:off x="1574800" y="2147146"/>
            <a:ext cx="340106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7F4"/>
                </a:solidFill>
                <a:latin typeface="IBM Plex Sans" pitchFamily="34" charset="0"/>
                <a:ea typeface="IBM Plex Sans" pitchFamily="34" charset="-122"/>
                <a:cs typeface="IBM Plex Sans" pitchFamily="34" charset="-120"/>
              </a:rPr>
              <a:t>Run a model locally</a:t>
            </a:r>
            <a:endParaRPr lang="en-US" sz="1600" dirty="0"/>
          </a:p>
        </p:txBody>
      </p:sp>
      <p:sp>
        <p:nvSpPr>
          <p:cNvPr id="7" name="Text 5"/>
          <p:cNvSpPr/>
          <p:nvPr/>
        </p:nvSpPr>
        <p:spPr>
          <a:xfrm>
            <a:off x="5130800" y="2144607"/>
            <a:ext cx="62484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BDA"/>
                </a:solidFill>
                <a:latin typeface="IBM Plex Sans" pitchFamily="34" charset="0"/>
                <a:ea typeface="IBM Plex Sans" pitchFamily="34" charset="-122"/>
                <a:cs typeface="IBM Plex Sans" pitchFamily="34" charset="-120"/>
              </a:rPr>
              <a:t>Foundry Local on a workstation GPU, with a prompt from your domain</a:t>
            </a:r>
            <a:endParaRPr lang="en-US" sz="1400" dirty="0"/>
          </a:p>
        </p:txBody>
      </p:sp>
      <p:sp>
        <p:nvSpPr>
          <p:cNvPr id="8" name="Shape 6"/>
          <p:cNvSpPr/>
          <p:nvPr/>
        </p:nvSpPr>
        <p:spPr>
          <a:xfrm>
            <a:off x="812800" y="2607521"/>
            <a:ext cx="10566401" cy="0"/>
          </a:xfrm>
          <a:prstGeom prst="line">
            <a:avLst/>
          </a:prstGeom>
          <a:noFill/>
          <a:ln w="6350">
            <a:solidFill>
              <a:srgbClr val="2C3D57"/>
            </a:solidFill>
            <a:prstDash val="solid"/>
          </a:ln>
        </p:spPr>
      </p:sp>
      <p:sp>
        <p:nvSpPr>
          <p:cNvPr id="9" name="Text 7"/>
          <p:cNvSpPr/>
          <p:nvPr/>
        </p:nvSpPr>
        <p:spPr>
          <a:xfrm>
            <a:off x="812800" y="2747432"/>
            <a:ext cx="55880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F6FEB"/>
                </a:solidFill>
                <a:latin typeface="IBM Plex Sans" pitchFamily="34" charset="0"/>
                <a:ea typeface="IBM Plex Sans" pitchFamily="34" charset="-122"/>
                <a:cs typeface="IBM Plex Sans" pitchFamily="34" charset="-120"/>
              </a:rPr>
              <a:t>2</a:t>
            </a:r>
            <a:endParaRPr lang="en-US" sz="2200" dirty="0"/>
          </a:p>
        </p:txBody>
      </p:sp>
      <p:sp>
        <p:nvSpPr>
          <p:cNvPr id="10" name="Text 8"/>
          <p:cNvSpPr/>
          <p:nvPr/>
        </p:nvSpPr>
        <p:spPr>
          <a:xfrm>
            <a:off x="1574800" y="2821093"/>
            <a:ext cx="340106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7F4"/>
                </a:solidFill>
                <a:latin typeface="IBM Plex Sans" pitchFamily="34" charset="0"/>
                <a:ea typeface="IBM Plex Sans" pitchFamily="34" charset="-122"/>
                <a:cs typeface="IBM Plex Sans" pitchFamily="34" charset="-120"/>
              </a:rPr>
              <a:t>Pull the network</a:t>
            </a:r>
            <a:endParaRPr lang="en-US" sz="1600" dirty="0"/>
          </a:p>
        </p:txBody>
      </p:sp>
      <p:sp>
        <p:nvSpPr>
          <p:cNvPr id="11" name="Text 9"/>
          <p:cNvSpPr/>
          <p:nvPr/>
        </p:nvSpPr>
        <p:spPr>
          <a:xfrm>
            <a:off x="5130800" y="2818554"/>
            <a:ext cx="515524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BDA"/>
                </a:solidFill>
                <a:latin typeface="IBM Plex Sans" pitchFamily="34" charset="0"/>
                <a:ea typeface="IBM Plex Sans" pitchFamily="34" charset="-122"/>
                <a:cs typeface="IBM Plex Sans" pitchFamily="34" charset="-120"/>
              </a:rPr>
              <a:t>Wi-Fi off, same answers: what disconnected looks like</a:t>
            </a:r>
            <a:endParaRPr lang="en-US" sz="1400" dirty="0"/>
          </a:p>
        </p:txBody>
      </p:sp>
      <p:sp>
        <p:nvSpPr>
          <p:cNvPr id="12" name="Shape 10"/>
          <p:cNvSpPr/>
          <p:nvPr/>
        </p:nvSpPr>
        <p:spPr>
          <a:xfrm>
            <a:off x="812800" y="3281468"/>
            <a:ext cx="10566401" cy="0"/>
          </a:xfrm>
          <a:prstGeom prst="line">
            <a:avLst/>
          </a:prstGeom>
          <a:noFill/>
          <a:ln w="6350">
            <a:solidFill>
              <a:srgbClr val="2C3D57"/>
            </a:solidFill>
            <a:prstDash val="solid"/>
          </a:ln>
        </p:spPr>
      </p:sp>
      <p:sp>
        <p:nvSpPr>
          <p:cNvPr id="13" name="Text 11"/>
          <p:cNvSpPr/>
          <p:nvPr/>
        </p:nvSpPr>
        <p:spPr>
          <a:xfrm>
            <a:off x="812800" y="3421379"/>
            <a:ext cx="55880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F6FEB"/>
                </a:solidFill>
                <a:latin typeface="IBM Plex Sans" pitchFamily="34" charset="0"/>
                <a:ea typeface="IBM Plex Sans" pitchFamily="34" charset="-122"/>
                <a:cs typeface="IBM Plex Sans" pitchFamily="34" charset="-120"/>
              </a:rPr>
              <a:t>3</a:t>
            </a:r>
            <a:endParaRPr lang="en-US" sz="2200" dirty="0"/>
          </a:p>
        </p:txBody>
      </p:sp>
      <p:sp>
        <p:nvSpPr>
          <p:cNvPr id="14" name="Text 12"/>
          <p:cNvSpPr/>
          <p:nvPr/>
        </p:nvSpPr>
        <p:spPr>
          <a:xfrm>
            <a:off x="1574800" y="3495039"/>
            <a:ext cx="340106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7F4"/>
                </a:solidFill>
                <a:latin typeface="IBM Plex Sans" pitchFamily="34" charset="0"/>
                <a:ea typeface="IBM Plex Sans" pitchFamily="34" charset="-122"/>
                <a:cs typeface="IBM Plex Sans" pitchFamily="34" charset="-120"/>
              </a:rPr>
              <a:t>Reuse OpenAI code</a:t>
            </a:r>
            <a:endParaRPr lang="en-US" sz="1600" dirty="0"/>
          </a:p>
        </p:txBody>
      </p:sp>
      <p:sp>
        <p:nvSpPr>
          <p:cNvPr id="15" name="Text 13"/>
          <p:cNvSpPr/>
          <p:nvPr/>
        </p:nvSpPr>
        <p:spPr>
          <a:xfrm>
            <a:off x="5130800" y="3492500"/>
            <a:ext cx="550386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BDA"/>
                </a:solidFill>
                <a:latin typeface="IBM Plex Sans" pitchFamily="34" charset="0"/>
                <a:ea typeface="IBM Plex Sans" pitchFamily="34" charset="-122"/>
                <a:cs typeface="IBM Plex Sans" pitchFamily="34" charset="-120"/>
              </a:rPr>
              <a:t>A standard OpenAI SDK app where only base_url changes</a:t>
            </a:r>
            <a:endParaRPr lang="en-US" sz="1400" dirty="0"/>
          </a:p>
        </p:txBody>
      </p:sp>
      <p:sp>
        <p:nvSpPr>
          <p:cNvPr id="16" name="Shape 14"/>
          <p:cNvSpPr/>
          <p:nvPr/>
        </p:nvSpPr>
        <p:spPr>
          <a:xfrm>
            <a:off x="812800" y="3955414"/>
            <a:ext cx="10566401" cy="0"/>
          </a:xfrm>
          <a:prstGeom prst="line">
            <a:avLst/>
          </a:prstGeom>
          <a:noFill/>
          <a:ln w="6350">
            <a:solidFill>
              <a:srgbClr val="2C3D57"/>
            </a:solidFill>
            <a:prstDash val="solid"/>
          </a:ln>
        </p:spPr>
      </p:sp>
      <p:sp>
        <p:nvSpPr>
          <p:cNvPr id="17" name="Text 15"/>
          <p:cNvSpPr/>
          <p:nvPr/>
        </p:nvSpPr>
        <p:spPr>
          <a:xfrm>
            <a:off x="812800" y="4095325"/>
            <a:ext cx="55880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F6FEB"/>
                </a:solidFill>
                <a:latin typeface="IBM Plex Sans" pitchFamily="34" charset="0"/>
                <a:ea typeface="IBM Plex Sans" pitchFamily="34" charset="-122"/>
                <a:cs typeface="IBM Plex Sans" pitchFamily="34" charset="-120"/>
              </a:rPr>
              <a:t>4</a:t>
            </a:r>
            <a:endParaRPr lang="en-US" sz="2200" dirty="0"/>
          </a:p>
        </p:txBody>
      </p:sp>
      <p:sp>
        <p:nvSpPr>
          <p:cNvPr id="18" name="Text 16"/>
          <p:cNvSpPr/>
          <p:nvPr/>
        </p:nvSpPr>
        <p:spPr>
          <a:xfrm>
            <a:off x="1574800" y="4168989"/>
            <a:ext cx="340106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7F4"/>
                </a:solidFill>
                <a:latin typeface="IBM Plex Sans" pitchFamily="34" charset="0"/>
                <a:ea typeface="IBM Plex Sans" pitchFamily="34" charset="-122"/>
                <a:cs typeface="IBM Plex Sans" pitchFamily="34" charset="-120"/>
              </a:rPr>
              <a:t>Promote to the cluster</a:t>
            </a:r>
            <a:endParaRPr lang="en-US" sz="1600" dirty="0"/>
          </a:p>
        </p:txBody>
      </p:sp>
      <p:sp>
        <p:nvSpPr>
          <p:cNvPr id="19" name="Text 17"/>
          <p:cNvSpPr/>
          <p:nvPr/>
        </p:nvSpPr>
        <p:spPr>
          <a:xfrm>
            <a:off x="5130800" y="4166446"/>
            <a:ext cx="619086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BDA"/>
                </a:solidFill>
                <a:latin typeface="IBM Plex Sans" pitchFamily="34" charset="0"/>
                <a:ea typeface="IBM Plex Sans" pitchFamily="34" charset="-122"/>
                <a:cs typeface="IBM Plex Sans" pitchFamily="34" charset="-120"/>
              </a:rPr>
              <a:t>The Arc extension, a ModelDeployment, and the cluster endpoint</a:t>
            </a:r>
            <a:endParaRPr lang="en-US" sz="1400" dirty="0"/>
          </a:p>
        </p:txBody>
      </p:sp>
      <p:sp>
        <p:nvSpPr>
          <p:cNvPr id="20" name="Shape 18"/>
          <p:cNvSpPr/>
          <p:nvPr/>
        </p:nvSpPr>
        <p:spPr>
          <a:xfrm>
            <a:off x="812800" y="4629364"/>
            <a:ext cx="10566401" cy="0"/>
          </a:xfrm>
          <a:prstGeom prst="line">
            <a:avLst/>
          </a:prstGeom>
          <a:noFill/>
          <a:ln w="6350">
            <a:solidFill>
              <a:srgbClr val="2C3D57"/>
            </a:solidFill>
            <a:prstDash val="solid"/>
          </a:ln>
        </p:spPr>
      </p:sp>
      <p:sp>
        <p:nvSpPr>
          <p:cNvPr id="21" name="Shape 19"/>
          <p:cNvSpPr/>
          <p:nvPr/>
        </p:nvSpPr>
        <p:spPr>
          <a:xfrm>
            <a:off x="812800" y="5300347"/>
            <a:ext cx="10566401" cy="0"/>
          </a:xfrm>
          <a:prstGeom prst="line">
            <a:avLst/>
          </a:prstGeom>
          <a:noFill/>
          <a:ln w="6350">
            <a:solidFill>
              <a:srgbClr val="2C3D57"/>
            </a:solidFill>
            <a:prstDash val="solid"/>
          </a:ln>
        </p:spPr>
      </p:sp>
      <p:sp>
        <p:nvSpPr>
          <p:cNvPr id="22" name="Text 20"/>
          <p:cNvSpPr/>
          <p:nvPr/>
        </p:nvSpPr>
        <p:spPr>
          <a:xfrm>
            <a:off x="812800" y="4769275"/>
            <a:ext cx="55880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F6FEB"/>
                </a:solidFill>
                <a:latin typeface="IBM Plex Sans" pitchFamily="34" charset="0"/>
                <a:ea typeface="IBM Plex Sans" pitchFamily="34" charset="-122"/>
                <a:cs typeface="IBM Plex Sans" pitchFamily="34" charset="-120"/>
              </a:rPr>
              <a:t>5</a:t>
            </a:r>
            <a:endParaRPr lang="en-US" sz="2200" dirty="0"/>
          </a:p>
        </p:txBody>
      </p:sp>
      <p:sp>
        <p:nvSpPr>
          <p:cNvPr id="23" name="Text 21"/>
          <p:cNvSpPr/>
          <p:nvPr/>
        </p:nvSpPr>
        <p:spPr>
          <a:xfrm>
            <a:off x="1574800" y="4842932"/>
            <a:ext cx="340106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7F4"/>
                </a:solidFill>
                <a:latin typeface="IBM Plex Sans" pitchFamily="34" charset="0"/>
                <a:ea typeface="IBM Plex Sans" pitchFamily="34" charset="-122"/>
                <a:cs typeface="IBM Plex Sans" pitchFamily="34" charset="-120"/>
              </a:rPr>
              <a:t>Burst to the cloud</a:t>
            </a:r>
            <a:endParaRPr lang="en-US" sz="1600" dirty="0"/>
          </a:p>
        </p:txBody>
      </p:sp>
      <p:sp>
        <p:nvSpPr>
          <p:cNvPr id="24" name="Text 22"/>
          <p:cNvSpPr/>
          <p:nvPr/>
        </p:nvSpPr>
        <p:spPr>
          <a:xfrm>
            <a:off x="5130800" y="4840396"/>
            <a:ext cx="490753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BDA"/>
                </a:solidFill>
                <a:latin typeface="IBM Plex Sans" pitchFamily="34" charset="0"/>
                <a:ea typeface="IBM Plex Sans" pitchFamily="34" charset="-122"/>
                <a:cs typeface="IBM Plex Sans" pitchFamily="34" charset="-120"/>
              </a:rPr>
              <a:t>Frontier work in Microsoft Foundry, same code path</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EB"/>
                </a:solidFill>
                <a:latin typeface="IBM Plex Sans" pitchFamily="34" charset="0"/>
                <a:ea typeface="IBM Plex Sans" pitchFamily="34" charset="-122"/>
                <a:cs typeface="IBM Plex Sans" pitchFamily="34" charset="-120"/>
              </a:rPr>
              <a:t>COMMON QUESTIONS</a:t>
            </a:r>
            <a:endParaRPr lang="en-US" sz="1200" dirty="0"/>
          </a:p>
        </p:txBody>
      </p:sp>
      <p:sp>
        <p:nvSpPr>
          <p:cNvPr id="3" name="Text 1"/>
          <p:cNvSpPr/>
          <p:nvPr>
            <p:ph type="title"/>
          </p:nvPr>
        </p:nvSpPr>
        <p:spPr>
          <a:xfrm>
            <a:off x="812800" y="1127764"/>
            <a:ext cx="10883393"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What customers usually ask</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89760"/>
          <a:ext cx="10556241" cy="3065780"/>
        </p:xfrm>
        <a:graphic>
          <a:graphicData uri="http://schemas.openxmlformats.org/drawingml/2006/table">
            <a:tbl>
              <a:tblPr/>
              <a:tblGrid>
                <a:gridCol w="3377997"/>
                <a:gridCol w="7178244"/>
              </a:tblGrid>
              <a:tr h="356870">
                <a:tc>
                  <a:txBody>
                    <a:bodyPr/>
                    <a:lstStyle/>
                    <a:p>
                      <a:pPr indent="0" marL="0">
                        <a:lnSpc>
                          <a:spcPts val="1820"/>
                        </a:lnSpc>
                        <a:buNone/>
                      </a:pPr>
                      <a:r>
                        <a:rPr lang="en-US" sz="1300" b="1" dirty="0">
                          <a:solidFill>
                            <a:srgbClr val="0F1B2D"/>
                          </a:solidFill>
                          <a:latin typeface="IBM Plex Sans" pitchFamily="34" charset="0"/>
                          <a:ea typeface="IBM Plex Sans" pitchFamily="34" charset="-122"/>
                          <a:cs typeface="IBM Plex Sans" pitchFamily="34" charset="-120"/>
                        </a:rPr>
                        <a:t>Question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BABDC1"/>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ABDC1"/>
                      </a:solidFill>
                      <a:prstDash val="solid"/>
                      <a:round/>
                      <a:headEnd type="none" w="med" len="med"/>
                      <a:tailEnd type="none" w="med" len="med"/>
                    </a:lnB>
                    <a:solidFill>
                      <a:srgbClr val="E9EDF2"/>
                    </a:solidFill>
                  </a:tcPr>
                </a:tc>
                <a:tc>
                  <a:txBody>
                    <a:bodyPr/>
                    <a:lstStyle/>
                    <a:p>
                      <a:pPr indent="0" marL="0">
                        <a:lnSpc>
                          <a:spcPts val="1820"/>
                        </a:lnSpc>
                        <a:buNone/>
                      </a:pPr>
                      <a:r>
                        <a:rPr lang="en-US" sz="1300" b="1" dirty="0">
                          <a:solidFill>
                            <a:srgbClr val="0F1B2D"/>
                          </a:solidFill>
                          <a:latin typeface="IBM Plex Sans" pitchFamily="34" charset="0"/>
                          <a:ea typeface="IBM Plex Sans" pitchFamily="34" charset="-122"/>
                          <a:cs typeface="IBM Plex Sans" pitchFamily="34" charset="-120"/>
                        </a:rPr>
                        <a:t>Answer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DC1"/>
                      </a:solidFill>
                      <a:prstDash val="solid"/>
                      <a:round/>
                      <a:headEnd type="none" w="med" len="med"/>
                      <a:tailEnd type="none" w="med" len="med"/>
                    </a:lnL>
                    <a:lnR w="12700" cap="flat" cmpd="sng" algn="ctr">
                      <a:solidFill>
                        <a:srgbClr val="BABDC1"/>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ABDC1"/>
                      </a:solidFill>
                      <a:prstDash val="solid"/>
                      <a:round/>
                      <a:headEnd type="none" w="med" len="med"/>
                      <a:tailEnd type="none" w="med" len="med"/>
                    </a:lnB>
                    <a:solidFill>
                      <a:srgbClr val="E9EDF2"/>
                    </a:solidFill>
                  </a:tcPr>
                </a:tc>
              </a:tr>
              <a:tr h="588010">
                <a:tc>
                  <a:txBody>
                    <a:bodyPr/>
                    <a:lstStyle/>
                    <a:p>
                      <a:pPr indent="0" marL="0">
                        <a:lnSpc>
                          <a:spcPts val="1820"/>
                        </a:lnSpc>
                        <a:buNone/>
                      </a:pPr>
                      <a:r>
                        <a:rPr lang="en-US" sz="1300" dirty="0">
                          <a:solidFill>
                            <a:srgbClr val="33415C"/>
                          </a:solidFill>
                          <a:latin typeface="IBM Plex Sans" pitchFamily="34" charset="0"/>
                          <a:ea typeface="IBM Plex Sans" pitchFamily="34" charset="-122"/>
                          <a:cs typeface="IBM Plex Sans" pitchFamily="34" charset="-120"/>
                        </a:rPr>
                        <a:t>What GPUs do we need?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ABDC1"/>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820"/>
                        </a:lnSpc>
                        <a:buNone/>
                      </a:pPr>
                      <a:r>
                        <a:rPr lang="en-US" sz="1300" dirty="0">
                          <a:solidFill>
                            <a:srgbClr val="33415C"/>
                          </a:solidFill>
                          <a:latin typeface="IBM Plex Sans" pitchFamily="34" charset="0"/>
                          <a:ea typeface="IBM Plex Sans" pitchFamily="34" charset="-122"/>
                          <a:cs typeface="IBM Plex Sans" pitchFamily="34" charset="-120"/>
                        </a:rPr>
                        <a:t>Size per model: docs suggest 40 GB+ VRAM, or multi-GPU, for gpt-oss-20b. Small models need far less.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ABDC1"/>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588010">
                <a:tc>
                  <a:txBody>
                    <a:bodyPr/>
                    <a:lstStyle/>
                    <a:p>
                      <a:pPr indent="0" marL="0">
                        <a:lnSpc>
                          <a:spcPts val="1820"/>
                        </a:lnSpc>
                        <a:buNone/>
                      </a:pPr>
                      <a:r>
                        <a:rPr lang="en-US" sz="1300" dirty="0">
                          <a:solidFill>
                            <a:srgbClr val="33415C"/>
                          </a:solidFill>
                          <a:latin typeface="IBM Plex Sans" pitchFamily="34" charset="0"/>
                          <a:ea typeface="IBM Plex Sans" pitchFamily="34" charset="-122"/>
                          <a:cs typeface="IBM Plex Sans" pitchFamily="34" charset="-120"/>
                        </a:rPr>
                        <a:t>We’re fully air-gapped.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820"/>
                        </a:lnSpc>
                        <a:buNone/>
                      </a:pPr>
                      <a:r>
                        <a:rPr lang="en-US" sz="1300" dirty="0">
                          <a:solidFill>
                            <a:srgbClr val="33415C"/>
                          </a:solidFill>
                          <a:latin typeface="IBM Plex Sans" pitchFamily="34" charset="0"/>
                          <a:ea typeface="IBM Plex Sans" pitchFamily="34" charset="-122"/>
                          <a:cs typeface="IBM Plex Sans" pitchFamily="34" charset="-120"/>
                        </a:rPr>
                        <a:t>Disconnected mode uses the same operator and cluster, with artifacts imported via expansion packs.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588010">
                <a:tc>
                  <a:txBody>
                    <a:bodyPr/>
                    <a:lstStyle/>
                    <a:p>
                      <a:pPr indent="0" marL="0">
                        <a:lnSpc>
                          <a:spcPts val="1820"/>
                        </a:lnSpc>
                        <a:buNone/>
                      </a:pPr>
                      <a:r>
                        <a:rPr lang="en-US" sz="1300" dirty="0">
                          <a:solidFill>
                            <a:srgbClr val="33415C"/>
                          </a:solidFill>
                          <a:latin typeface="IBM Plex Sans" pitchFamily="34" charset="0"/>
                          <a:ea typeface="IBM Plex Sans" pitchFamily="34" charset="-122"/>
                          <a:cs typeface="IBM Plex Sans" pitchFamily="34" charset="-120"/>
                        </a:rPr>
                        <a:t>Why not run vLLM ourselves?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820"/>
                        </a:lnSpc>
                        <a:buNone/>
                      </a:pPr>
                      <a:r>
                        <a:rPr lang="en-US" sz="1300" dirty="0">
                          <a:solidFill>
                            <a:srgbClr val="33415C"/>
                          </a:solidFill>
                          <a:latin typeface="IBM Plex Sans" pitchFamily="34" charset="0"/>
                          <a:ea typeface="IBM Plex Sans" pitchFamily="34" charset="-122"/>
                          <a:cs typeface="IBM Plex Sans" pitchFamily="34" charset="-120"/>
                        </a:rPr>
                        <a:t>You’d own patching, packaging, auth and lifecycle. This is a supported Arc extension with a curated catalog.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56870">
                <a:tc>
                  <a:txBody>
                    <a:bodyPr/>
                    <a:lstStyle/>
                    <a:p>
                      <a:pPr indent="0" marL="0">
                        <a:lnSpc>
                          <a:spcPts val="1820"/>
                        </a:lnSpc>
                        <a:buNone/>
                      </a:pPr>
                      <a:r>
                        <a:rPr lang="en-US" sz="1300" dirty="0">
                          <a:solidFill>
                            <a:srgbClr val="33415C"/>
                          </a:solidFill>
                          <a:latin typeface="IBM Plex Sans" pitchFamily="34" charset="0"/>
                          <a:ea typeface="IBM Plex Sans" pitchFamily="34" charset="-122"/>
                          <a:cs typeface="IBM Plex Sans" pitchFamily="34" charset="-120"/>
                        </a:rPr>
                        <a:t>Can developers start now?</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820"/>
                        </a:lnSpc>
                        <a:buNone/>
                      </a:pPr>
                      <a:r>
                        <a:rPr lang="en-US" sz="1300" dirty="0">
                          <a:solidFill>
                            <a:srgbClr val="33415C"/>
                          </a:solidFill>
                          <a:latin typeface="IBM Plex Sans" pitchFamily="34" charset="0"/>
                          <a:ea typeface="IBM Plex Sans" pitchFamily="34" charset="-122"/>
                          <a:cs typeface="IBM Plex Sans" pitchFamily="34" charset="-120"/>
                        </a:rPr>
                        <a:t>Yes, on workstations with the same API. Only the endpoint changes when the cluster is ready.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588010">
                <a:tc>
                  <a:txBody>
                    <a:bodyPr/>
                    <a:lstStyle/>
                    <a:p>
                      <a:pPr indent="0" marL="0">
                        <a:lnSpc>
                          <a:spcPts val="1820"/>
                        </a:lnSpc>
                        <a:buNone/>
                      </a:pPr>
                      <a:r>
                        <a:rPr lang="en-US" sz="1300" dirty="0">
                          <a:solidFill>
                            <a:srgbClr val="33415C"/>
                          </a:solidFill>
                          <a:latin typeface="IBM Plex Sans" pitchFamily="34" charset="0"/>
                          <a:ea typeface="IBM Plex Sans" pitchFamily="34" charset="-122"/>
                          <a:cs typeface="IBM Plex Sans" pitchFamily="34" charset="-120"/>
                        </a:rPr>
                        <a:t>Are large models supported?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820"/>
                        </a:lnSpc>
                        <a:buNone/>
                      </a:pPr>
                      <a:r>
                        <a:rPr lang="en-US" sz="1300" dirty="0">
                          <a:solidFill>
                            <a:srgbClr val="33415C"/>
                          </a:solidFill>
                          <a:latin typeface="IBM Plex Sans" pitchFamily="34" charset="0"/>
                          <a:ea typeface="IBM Plex Sans" pitchFamily="34" charset="-122"/>
                          <a:cs typeface="IBM Plex Sans" pitchFamily="34" charset="-120"/>
                        </a:rPr>
                        <a:t>Announced for qualified customers in February 2026, including fully disconnected environments.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bl>
          </a:graphicData>
        </a:graphic>
      </p:graphicFrame>
      <p:sp>
        <p:nvSpPr>
          <p:cNvPr id="5" name="Text 2"/>
          <p:cNvSpPr/>
          <p:nvPr/>
        </p:nvSpPr>
        <p:spPr>
          <a:xfrm>
            <a:off x="812800" y="6238242"/>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484"/>
                </a:solidFill>
                <a:latin typeface="IBM Plex Sans" pitchFamily="34" charset="0"/>
                <a:ea typeface="IBM Plex Sans" pitchFamily="34" charset="-122"/>
                <a:cs typeface="IBM Plex Sans" pitchFamily="34" charset="-120"/>
              </a:rPr>
              <a:t>Sources: Microsoft Learn; Microsoft News, February 2026</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EB"/>
                </a:solidFill>
                <a:latin typeface="IBM Plex Sans" pitchFamily="34" charset="0"/>
                <a:ea typeface="IBM Plex Sans" pitchFamily="34" charset="-122"/>
                <a:cs typeface="IBM Plex Sans" pitchFamily="34" charset="-120"/>
              </a:rPr>
              <a:t>AVAILABILITY</a:t>
            </a:r>
            <a:endParaRPr lang="en-US" sz="1200" dirty="0"/>
          </a:p>
        </p:txBody>
      </p:sp>
      <p:sp>
        <p:nvSpPr>
          <p:cNvPr id="3" name="Text 1"/>
          <p:cNvSpPr/>
          <p:nvPr>
            <p:ph type="title"/>
          </p:nvPr>
        </p:nvSpPr>
        <p:spPr>
          <a:xfrm>
            <a:off x="812800" y="1127758"/>
            <a:ext cx="10883393"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2D"/>
                </a:solidFill>
                <a:latin typeface="IBM Plex Sans" pitchFamily="34" charset="0"/>
                <a:ea typeface="IBM Plex Sans" pitchFamily="34" charset="-122"/>
                <a:cs typeface="IBM Plex Sans" pitchFamily="34" charset="-120"/>
              </a:rPr>
              <a:t>Where things stand today</a:t>
            </a:r>
            <a:endParaRPr lang="en-US" sz="3200" dirty="0"/>
          </a:p>
        </p:txBody>
      </p:sp>
      <p:sp>
        <p:nvSpPr>
          <p:cNvPr id="4" name="Shape 2"/>
          <p:cNvSpPr/>
          <p:nvPr/>
        </p:nvSpPr>
        <p:spPr>
          <a:xfrm>
            <a:off x="815975" y="1984375"/>
            <a:ext cx="3375766" cy="3854450"/>
          </a:xfrm>
          <a:prstGeom prst="roundRect">
            <a:avLst>
              <a:gd name="adj" fmla="val 2916"/>
            </a:avLst>
          </a:prstGeom>
          <a:solidFill>
            <a:srgbClr val="FFFFFF"/>
          </a:solidFill>
          <a:ln w="6350">
            <a:solidFill>
              <a:srgbClr val="DDE2E8"/>
            </a:solidFill>
            <a:prstDash val="solid"/>
          </a:ln>
        </p:spPr>
      </p:sp>
      <p:sp>
        <p:nvSpPr>
          <p:cNvPr id="5" name="Text 3"/>
          <p:cNvSpPr/>
          <p:nvPr/>
        </p:nvSpPr>
        <p:spPr>
          <a:xfrm>
            <a:off x="1095587" y="2263986"/>
            <a:ext cx="2901039"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2F6FEB"/>
                </a:solidFill>
                <a:latin typeface="IBM Plex Sans" pitchFamily="34" charset="0"/>
                <a:ea typeface="IBM Plex Sans" pitchFamily="34" charset="-122"/>
                <a:cs typeface="IBM Plex Sans" pitchFamily="34" charset="-120"/>
              </a:rPr>
              <a:t>GA</a:t>
            </a:r>
            <a:endParaRPr lang="en-US" sz="4400" dirty="0"/>
          </a:p>
        </p:txBody>
      </p:sp>
      <p:sp>
        <p:nvSpPr>
          <p:cNvPr id="6" name="Text 4"/>
          <p:cNvSpPr/>
          <p:nvPr/>
        </p:nvSpPr>
        <p:spPr>
          <a:xfrm>
            <a:off x="1095587" y="2949786"/>
            <a:ext cx="290103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Device runtime</a:t>
            </a:r>
            <a:endParaRPr lang="en-US" sz="1600" dirty="0"/>
          </a:p>
        </p:txBody>
      </p:sp>
      <p:sp>
        <p:nvSpPr>
          <p:cNvPr id="7" name="Text 5"/>
          <p:cNvSpPr/>
          <p:nvPr/>
        </p:nvSpPr>
        <p:spPr>
          <a:xfrm>
            <a:off x="1095587" y="3320622"/>
            <a:ext cx="290103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Foundry Local generally available since April 9, 2026</a:t>
            </a:r>
            <a:endParaRPr lang="en-US" sz="1400" dirty="0"/>
          </a:p>
        </p:txBody>
      </p:sp>
      <p:sp>
        <p:nvSpPr>
          <p:cNvPr id="8" name="Shape 6"/>
          <p:cNvSpPr/>
          <p:nvPr/>
        </p:nvSpPr>
        <p:spPr>
          <a:xfrm>
            <a:off x="4404466" y="1987550"/>
            <a:ext cx="3383016" cy="3848100"/>
          </a:xfrm>
          <a:prstGeom prst="roundRect">
            <a:avLst>
              <a:gd name="adj" fmla="val 2816"/>
            </a:avLst>
          </a:prstGeom>
          <a:solidFill>
            <a:srgbClr val="FFF4EA"/>
          </a:solidFill>
          <a:ln w="12700">
            <a:solidFill>
              <a:srgbClr val="E8833A"/>
            </a:solidFill>
            <a:prstDash val="solid"/>
          </a:ln>
        </p:spPr>
      </p:sp>
      <p:sp>
        <p:nvSpPr>
          <p:cNvPr id="9" name="Text 7"/>
          <p:cNvSpPr/>
          <p:nvPr/>
        </p:nvSpPr>
        <p:spPr>
          <a:xfrm>
            <a:off x="4687676" y="2270758"/>
            <a:ext cx="2901093"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B85A14"/>
                </a:solidFill>
                <a:latin typeface="IBM Plex Sans" pitchFamily="34" charset="0"/>
                <a:ea typeface="IBM Plex Sans" pitchFamily="34" charset="-122"/>
                <a:cs typeface="IBM Plex Sans" pitchFamily="34" charset="-120"/>
              </a:rPr>
              <a:t>Preview</a:t>
            </a:r>
            <a:endParaRPr lang="en-US" sz="4400" dirty="0"/>
          </a:p>
        </p:txBody>
      </p:sp>
      <p:sp>
        <p:nvSpPr>
          <p:cNvPr id="10" name="Text 8"/>
          <p:cNvSpPr/>
          <p:nvPr/>
        </p:nvSpPr>
        <p:spPr>
          <a:xfrm>
            <a:off x="4687676" y="2956558"/>
            <a:ext cx="290109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On Azure Local</a:t>
            </a:r>
            <a:endParaRPr lang="en-US" sz="1600" dirty="0"/>
          </a:p>
        </p:txBody>
      </p:sp>
      <p:sp>
        <p:nvSpPr>
          <p:cNvPr id="11" name="Text 9"/>
          <p:cNvSpPr/>
          <p:nvPr/>
        </p:nvSpPr>
        <p:spPr>
          <a:xfrm>
            <a:off x="4687676" y="3327400"/>
            <a:ext cx="290109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Deployment requires preview access; confirm status before committing dates</a:t>
            </a:r>
            <a:endParaRPr lang="en-US" sz="1400" dirty="0"/>
          </a:p>
        </p:txBody>
      </p:sp>
      <p:sp>
        <p:nvSpPr>
          <p:cNvPr id="12" name="Shape 10"/>
          <p:cNvSpPr/>
          <p:nvPr/>
        </p:nvSpPr>
        <p:spPr>
          <a:xfrm>
            <a:off x="8000207" y="1984375"/>
            <a:ext cx="3375819" cy="3854450"/>
          </a:xfrm>
          <a:prstGeom prst="roundRect">
            <a:avLst>
              <a:gd name="adj" fmla="val 2916"/>
            </a:avLst>
          </a:prstGeom>
          <a:solidFill>
            <a:srgbClr val="FFFFFF"/>
          </a:solidFill>
          <a:ln w="6350">
            <a:solidFill>
              <a:srgbClr val="DDE2E8"/>
            </a:solidFill>
            <a:prstDash val="solid"/>
          </a:ln>
        </p:spPr>
      </p:sp>
      <p:sp>
        <p:nvSpPr>
          <p:cNvPr id="13" name="Text 11"/>
          <p:cNvSpPr/>
          <p:nvPr/>
        </p:nvSpPr>
        <p:spPr>
          <a:xfrm>
            <a:off x="8279819" y="2263986"/>
            <a:ext cx="2901093"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2F6FEB"/>
                </a:solidFill>
                <a:latin typeface="IBM Plex Sans" pitchFamily="34" charset="0"/>
                <a:ea typeface="IBM Plex Sans" pitchFamily="34" charset="-122"/>
                <a:cs typeface="IBM Plex Sans" pitchFamily="34" charset="-120"/>
              </a:rPr>
              <a:t>Feb ’26</a:t>
            </a:r>
            <a:endParaRPr lang="en-US" sz="4400" dirty="0"/>
          </a:p>
        </p:txBody>
      </p:sp>
      <p:sp>
        <p:nvSpPr>
          <p:cNvPr id="14" name="Text 12"/>
          <p:cNvSpPr/>
          <p:nvPr/>
        </p:nvSpPr>
        <p:spPr>
          <a:xfrm>
            <a:off x="8279819" y="2949786"/>
            <a:ext cx="290109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Large models</a:t>
            </a:r>
            <a:endParaRPr lang="en-US" sz="1600" dirty="0"/>
          </a:p>
        </p:txBody>
      </p:sp>
      <p:sp>
        <p:nvSpPr>
          <p:cNvPr id="15" name="Text 13"/>
          <p:cNvSpPr/>
          <p:nvPr/>
        </p:nvSpPr>
        <p:spPr>
          <a:xfrm>
            <a:off x="8279819" y="3320622"/>
            <a:ext cx="290109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Available to qualified customers, including fully disconnected</a:t>
            </a:r>
            <a:endParaRPr lang="en-US" sz="1400" dirty="0"/>
          </a:p>
        </p:txBody>
      </p:sp>
      <p:sp>
        <p:nvSpPr>
          <p:cNvPr id="16" name="Text 14"/>
          <p:cNvSpPr/>
          <p:nvPr/>
        </p:nvSpPr>
        <p:spPr>
          <a:xfrm>
            <a:off x="812800" y="6238236"/>
            <a:ext cx="108833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484"/>
                </a:solidFill>
                <a:latin typeface="IBM Plex Sans" pitchFamily="34" charset="0"/>
                <a:ea typeface="IBM Plex Sans" pitchFamily="34" charset="-122"/>
                <a:cs typeface="IBM Plex Sans" pitchFamily="34" charset="-120"/>
              </a:rPr>
              <a:t>Sources: Microsoft Foundry Blog; Microsoft Learn; Microsoft News · status as of October 2026</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FA8F5"/>
                </a:solidFill>
                <a:latin typeface="IBM Plex Sans" pitchFamily="34" charset="0"/>
                <a:ea typeface="IBM Plex Sans" pitchFamily="34" charset="-122"/>
                <a:cs typeface="IBM Plex Sans" pitchFamily="34" charset="-120"/>
              </a:rPr>
              <a:t>NEXT STEPS</a:t>
            </a:r>
            <a:endParaRPr lang="en-US" sz="1200" dirty="0"/>
          </a:p>
        </p:txBody>
      </p:sp>
      <p:sp>
        <p:nvSpPr>
          <p:cNvPr id="3" name="Text 1"/>
          <p:cNvSpPr/>
          <p:nvPr>
            <p:ph type="title"/>
          </p:nvPr>
        </p:nvSpPr>
        <p:spPr>
          <a:xfrm>
            <a:off x="812800" y="1127758"/>
            <a:ext cx="10883393"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6F7F4"/>
                </a:solidFill>
                <a:latin typeface="IBM Plex Sans" pitchFamily="34" charset="0"/>
                <a:ea typeface="IBM Plex Sans" pitchFamily="34" charset="-122"/>
                <a:cs typeface="IBM Plex Sans" pitchFamily="34" charset="-120"/>
              </a:rPr>
              <a:t>From conversation to pilot</a:t>
            </a:r>
            <a:endParaRPr lang="en-US" sz="3200" dirty="0"/>
          </a:p>
        </p:txBody>
      </p:sp>
      <p:sp>
        <p:nvSpPr>
          <p:cNvPr id="4" name="Shape 2"/>
          <p:cNvSpPr/>
          <p:nvPr/>
        </p:nvSpPr>
        <p:spPr>
          <a:xfrm>
            <a:off x="812800" y="1981200"/>
            <a:ext cx="5181600" cy="1369060"/>
          </a:xfrm>
          <a:prstGeom prst="roundRect">
            <a:avLst>
              <a:gd name="adj" fmla="val 5566"/>
            </a:avLst>
          </a:prstGeom>
          <a:solidFill>
            <a:srgbClr val="17263D"/>
          </a:solidFill>
          <a:ln/>
        </p:spPr>
      </p:sp>
      <p:sp>
        <p:nvSpPr>
          <p:cNvPr id="5" name="Shape 3"/>
          <p:cNvSpPr/>
          <p:nvPr/>
        </p:nvSpPr>
        <p:spPr>
          <a:xfrm>
            <a:off x="812800" y="1981200"/>
            <a:ext cx="5181600" cy="1369060"/>
          </a:xfrm>
          <a:custGeom>
            <a:avLst/>
            <a:gdLst/>
            <a:ahLst/>
            <a:cxnLst/>
            <a:rect l="l" t="t" r="r" b="b"/>
            <a:pathLst>
              <a:path w="5181600" h="1369060">
                <a:moveTo>
                  <a:pt x="76200" y="1369060"/>
                </a:moveTo>
                <a:lnTo>
                  <a:pt x="76200" y="1369060"/>
                </a:lnTo>
                <a:arcTo hR="76200" wR="76200" stAng="5400000" swAng="5400000"/>
                <a:lnTo>
                  <a:pt x="0" y="76200"/>
                </a:lnTo>
                <a:arcTo hR="76200" wR="76200" stAng="10800000" swAng="5400000"/>
                <a:lnTo>
                  <a:pt x="76200" y="0"/>
                </a:lnTo>
                <a:arcTo hR="76200" wR="38100" stAng="16200000" swAng="-5400000"/>
                <a:lnTo>
                  <a:pt x="38100" y="1292860"/>
                </a:lnTo>
                <a:arcTo hR="76200" wR="38100" stAng="10800000" swAng="-5400000"/>
                <a:close/>
              </a:path>
            </a:pathLst>
          </a:custGeom>
          <a:solidFill>
            <a:srgbClr val="2F6FEB"/>
          </a:solidFill>
          <a:ln/>
        </p:spPr>
      </p:sp>
      <p:sp>
        <p:nvSpPr>
          <p:cNvPr id="6" name="Text 4"/>
          <p:cNvSpPr/>
          <p:nvPr/>
        </p:nvSpPr>
        <p:spPr>
          <a:xfrm>
            <a:off x="1104053" y="2235200"/>
            <a:ext cx="477543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7F4"/>
                </a:solidFill>
                <a:latin typeface="IBM Plex Sans" pitchFamily="34" charset="0"/>
                <a:ea typeface="IBM Plex Sans" pitchFamily="34" charset="-122"/>
                <a:cs typeface="IBM Plex Sans" pitchFamily="34" charset="-120"/>
              </a:rPr>
              <a:t>Pick one use case</a:t>
            </a:r>
            <a:endParaRPr lang="en-US" sz="1800" dirty="0"/>
          </a:p>
        </p:txBody>
      </p:sp>
      <p:sp>
        <p:nvSpPr>
          <p:cNvPr id="7" name="Text 5"/>
          <p:cNvSpPr/>
          <p:nvPr/>
        </p:nvSpPr>
        <p:spPr>
          <a:xfrm>
            <a:off x="1104053" y="2598415"/>
            <a:ext cx="477543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BDA"/>
                </a:solidFill>
                <a:latin typeface="IBM Plex Sans" pitchFamily="34" charset="0"/>
                <a:ea typeface="IBM Plex Sans" pitchFamily="34" charset="-122"/>
                <a:cs typeface="IBM Plex Sans" pitchFamily="34" charset="-120"/>
              </a:rPr>
              <a:t>A sovereign workload and the data it touches</a:t>
            </a:r>
            <a:endParaRPr lang="en-US" sz="1400" dirty="0"/>
          </a:p>
        </p:txBody>
      </p:sp>
      <p:sp>
        <p:nvSpPr>
          <p:cNvPr id="8" name="Shape 6"/>
          <p:cNvSpPr/>
          <p:nvPr/>
        </p:nvSpPr>
        <p:spPr>
          <a:xfrm>
            <a:off x="6197600" y="1981200"/>
            <a:ext cx="5181600" cy="1369060"/>
          </a:xfrm>
          <a:prstGeom prst="roundRect">
            <a:avLst>
              <a:gd name="adj" fmla="val 5566"/>
            </a:avLst>
          </a:prstGeom>
          <a:solidFill>
            <a:srgbClr val="17263D"/>
          </a:solidFill>
          <a:ln/>
        </p:spPr>
      </p:sp>
      <p:sp>
        <p:nvSpPr>
          <p:cNvPr id="9" name="Shape 7"/>
          <p:cNvSpPr/>
          <p:nvPr/>
        </p:nvSpPr>
        <p:spPr>
          <a:xfrm>
            <a:off x="6197600" y="1981200"/>
            <a:ext cx="5181600" cy="1369060"/>
          </a:xfrm>
          <a:custGeom>
            <a:avLst/>
            <a:gdLst/>
            <a:ahLst/>
            <a:cxnLst/>
            <a:rect l="l" t="t" r="r" b="b"/>
            <a:pathLst>
              <a:path w="5181600" h="1369060">
                <a:moveTo>
                  <a:pt x="76200" y="1369060"/>
                </a:moveTo>
                <a:lnTo>
                  <a:pt x="76200" y="1369060"/>
                </a:lnTo>
                <a:arcTo hR="76200" wR="76200" stAng="5400000" swAng="5400000"/>
                <a:lnTo>
                  <a:pt x="0" y="76200"/>
                </a:lnTo>
                <a:arcTo hR="76200" wR="76200" stAng="10800000" swAng="5400000"/>
                <a:lnTo>
                  <a:pt x="76200" y="0"/>
                </a:lnTo>
                <a:arcTo hR="76200" wR="38100" stAng="16200000" swAng="-5400000"/>
                <a:lnTo>
                  <a:pt x="38100" y="1292860"/>
                </a:lnTo>
                <a:arcTo hR="76200" wR="38100" stAng="10800000" swAng="-5400000"/>
                <a:close/>
              </a:path>
            </a:pathLst>
          </a:custGeom>
          <a:solidFill>
            <a:srgbClr val="2F6FEB"/>
          </a:solidFill>
          <a:ln/>
        </p:spPr>
      </p:sp>
      <p:sp>
        <p:nvSpPr>
          <p:cNvPr id="10" name="Text 8"/>
          <p:cNvSpPr/>
          <p:nvPr/>
        </p:nvSpPr>
        <p:spPr>
          <a:xfrm>
            <a:off x="6488854" y="2235200"/>
            <a:ext cx="477543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7F4"/>
                </a:solidFill>
                <a:latin typeface="IBM Plex Sans" pitchFamily="34" charset="0"/>
                <a:ea typeface="IBM Plex Sans" pitchFamily="34" charset="-122"/>
                <a:cs typeface="IBM Plex Sans" pitchFamily="34" charset="-120"/>
              </a:rPr>
              <a:t>Confirm the platform</a:t>
            </a:r>
            <a:endParaRPr lang="en-US" sz="1800" dirty="0"/>
          </a:p>
        </p:txBody>
      </p:sp>
      <p:sp>
        <p:nvSpPr>
          <p:cNvPr id="11" name="Text 9"/>
          <p:cNvSpPr/>
          <p:nvPr/>
        </p:nvSpPr>
        <p:spPr>
          <a:xfrm>
            <a:off x="6488854" y="2598415"/>
            <a:ext cx="477543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BDA"/>
                </a:solidFill>
                <a:latin typeface="IBM Plex Sans" pitchFamily="34" charset="0"/>
                <a:ea typeface="IBM Plex Sans" pitchFamily="34" charset="-122"/>
                <a:cs typeface="IBM Plex Sans" pitchFamily="34" charset="-120"/>
              </a:rPr>
              <a:t>Preview access and GPU node plans for your Azure Local cluster</a:t>
            </a:r>
            <a:endParaRPr lang="en-US" sz="1400" dirty="0"/>
          </a:p>
        </p:txBody>
      </p:sp>
      <p:sp>
        <p:nvSpPr>
          <p:cNvPr id="12" name="Shape 10"/>
          <p:cNvSpPr/>
          <p:nvPr/>
        </p:nvSpPr>
        <p:spPr>
          <a:xfrm>
            <a:off x="812800" y="3553458"/>
            <a:ext cx="5181600" cy="1369060"/>
          </a:xfrm>
          <a:prstGeom prst="roundRect">
            <a:avLst>
              <a:gd name="adj" fmla="val 5566"/>
            </a:avLst>
          </a:prstGeom>
          <a:solidFill>
            <a:srgbClr val="17263D"/>
          </a:solidFill>
          <a:ln/>
        </p:spPr>
      </p:sp>
      <p:sp>
        <p:nvSpPr>
          <p:cNvPr id="13" name="Shape 11"/>
          <p:cNvSpPr/>
          <p:nvPr/>
        </p:nvSpPr>
        <p:spPr>
          <a:xfrm>
            <a:off x="812800" y="3553458"/>
            <a:ext cx="5181600" cy="1369060"/>
          </a:xfrm>
          <a:custGeom>
            <a:avLst/>
            <a:gdLst/>
            <a:ahLst/>
            <a:cxnLst/>
            <a:rect l="l" t="t" r="r" b="b"/>
            <a:pathLst>
              <a:path w="5181600" h="1369060">
                <a:moveTo>
                  <a:pt x="76200" y="1369060"/>
                </a:moveTo>
                <a:lnTo>
                  <a:pt x="76200" y="1369060"/>
                </a:lnTo>
                <a:arcTo hR="76200" wR="76200" stAng="5400000" swAng="5400000"/>
                <a:lnTo>
                  <a:pt x="0" y="76200"/>
                </a:lnTo>
                <a:arcTo hR="76200" wR="76200" stAng="10800000" swAng="5400000"/>
                <a:lnTo>
                  <a:pt x="76200" y="0"/>
                </a:lnTo>
                <a:arcTo hR="76200" wR="38100" stAng="16200000" swAng="-5400000"/>
                <a:lnTo>
                  <a:pt x="38100" y="1292860"/>
                </a:lnTo>
                <a:arcTo hR="76200" wR="38100" stAng="10800000" swAng="-5400000"/>
                <a:close/>
              </a:path>
            </a:pathLst>
          </a:custGeom>
          <a:solidFill>
            <a:srgbClr val="2F6FEB"/>
          </a:solidFill>
          <a:ln/>
        </p:spPr>
      </p:sp>
      <p:sp>
        <p:nvSpPr>
          <p:cNvPr id="14" name="Text 12"/>
          <p:cNvSpPr/>
          <p:nvPr/>
        </p:nvSpPr>
        <p:spPr>
          <a:xfrm>
            <a:off x="1104053" y="3807458"/>
            <a:ext cx="477543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7F4"/>
                </a:solidFill>
                <a:latin typeface="IBM Plex Sans" pitchFamily="34" charset="0"/>
                <a:ea typeface="IBM Plex Sans" pitchFamily="34" charset="-122"/>
                <a:cs typeface="IBM Plex Sans" pitchFamily="34" charset="-120"/>
              </a:rPr>
              <a:t>Hands-on session</a:t>
            </a:r>
            <a:endParaRPr lang="en-US" sz="1800" dirty="0"/>
          </a:p>
        </p:txBody>
      </p:sp>
      <p:sp>
        <p:nvSpPr>
          <p:cNvPr id="15" name="Text 13"/>
          <p:cNvSpPr/>
          <p:nvPr/>
        </p:nvSpPr>
        <p:spPr>
          <a:xfrm>
            <a:off x="1104053" y="4170679"/>
            <a:ext cx="477543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BDA"/>
                </a:solidFill>
                <a:latin typeface="IBM Plex Sans" pitchFamily="34" charset="0"/>
                <a:ea typeface="IBM Plex Sans" pitchFamily="34" charset="-122"/>
                <a:cs typeface="IBM Plex Sans" pitchFamily="34" charset="-120"/>
              </a:rPr>
              <a:t>Developers on workstations, platform team on a pilot ModelDeployment</a:t>
            </a:r>
            <a:endParaRPr lang="en-US" sz="1400" dirty="0"/>
          </a:p>
        </p:txBody>
      </p:sp>
      <p:sp>
        <p:nvSpPr>
          <p:cNvPr id="16" name="Shape 14"/>
          <p:cNvSpPr/>
          <p:nvPr/>
        </p:nvSpPr>
        <p:spPr>
          <a:xfrm>
            <a:off x="6197600" y="3553458"/>
            <a:ext cx="5181600" cy="1369060"/>
          </a:xfrm>
          <a:prstGeom prst="roundRect">
            <a:avLst>
              <a:gd name="adj" fmla="val 5566"/>
            </a:avLst>
          </a:prstGeom>
          <a:solidFill>
            <a:srgbClr val="17263D"/>
          </a:solidFill>
          <a:ln/>
        </p:spPr>
      </p:sp>
      <p:sp>
        <p:nvSpPr>
          <p:cNvPr id="17" name="Shape 15"/>
          <p:cNvSpPr/>
          <p:nvPr/>
        </p:nvSpPr>
        <p:spPr>
          <a:xfrm>
            <a:off x="6197600" y="3553458"/>
            <a:ext cx="5181600" cy="1369060"/>
          </a:xfrm>
          <a:custGeom>
            <a:avLst/>
            <a:gdLst/>
            <a:ahLst/>
            <a:cxnLst/>
            <a:rect l="l" t="t" r="r" b="b"/>
            <a:pathLst>
              <a:path w="5181600" h="1369060">
                <a:moveTo>
                  <a:pt x="76200" y="1369060"/>
                </a:moveTo>
                <a:lnTo>
                  <a:pt x="76200" y="1369060"/>
                </a:lnTo>
                <a:arcTo hR="76200" wR="76200" stAng="5400000" swAng="5400000"/>
                <a:lnTo>
                  <a:pt x="0" y="76200"/>
                </a:lnTo>
                <a:arcTo hR="76200" wR="76200" stAng="10800000" swAng="5400000"/>
                <a:lnTo>
                  <a:pt x="76200" y="0"/>
                </a:lnTo>
                <a:arcTo hR="76200" wR="38100" stAng="16200000" swAng="-5400000"/>
                <a:lnTo>
                  <a:pt x="38100" y="1292860"/>
                </a:lnTo>
                <a:arcTo hR="76200" wR="38100" stAng="10800000" swAng="-5400000"/>
                <a:close/>
              </a:path>
            </a:pathLst>
          </a:custGeom>
          <a:solidFill>
            <a:srgbClr val="2F6FEB"/>
          </a:solidFill>
          <a:ln/>
        </p:spPr>
      </p:sp>
      <p:sp>
        <p:nvSpPr>
          <p:cNvPr id="18" name="Text 16"/>
          <p:cNvSpPr/>
          <p:nvPr/>
        </p:nvSpPr>
        <p:spPr>
          <a:xfrm>
            <a:off x="6488854" y="3807458"/>
            <a:ext cx="477543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7F4"/>
                </a:solidFill>
                <a:latin typeface="IBM Plex Sans" pitchFamily="34" charset="0"/>
                <a:ea typeface="IBM Plex Sans" pitchFamily="34" charset="-122"/>
                <a:cs typeface="IBM Plex Sans" pitchFamily="34" charset="-120"/>
              </a:rPr>
              <a:t>Choose the install path</a:t>
            </a:r>
            <a:endParaRPr lang="en-US" sz="1800" dirty="0"/>
          </a:p>
        </p:txBody>
      </p:sp>
      <p:sp>
        <p:nvSpPr>
          <p:cNvPr id="19" name="Text 17"/>
          <p:cNvSpPr/>
          <p:nvPr/>
        </p:nvSpPr>
        <p:spPr>
          <a:xfrm>
            <a:off x="6488854" y="4170679"/>
            <a:ext cx="477543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BDA"/>
                </a:solidFill>
                <a:latin typeface="IBM Plex Sans" pitchFamily="34" charset="0"/>
                <a:ea typeface="IBM Plex Sans" pitchFamily="34" charset="-122"/>
                <a:cs typeface="IBM Plex Sans" pitchFamily="34" charset="-120"/>
              </a:rPr>
              <a:t>Connected or disconnected deployment</a:t>
            </a:r>
            <a:endParaRPr lang="en-US" sz="1400" dirty="0"/>
          </a:p>
        </p:txBody>
      </p:sp>
    </p:spTree>
  </p:cSld>
  <p:clrMapOvr>
    <a:masterClrMapping/>
  </p:clrMapOvr>
</p:sld>
</file>

<file path=ppt/theme/theme1.xml><?xml version="1.0" encoding="utf-8"?>
<a:theme xmlns:a="http://schemas.openxmlformats.org/drawingml/2006/main" name="Foundry Local on Azure Local">
  <a:themeElements>
    <a:clrScheme name="Foundry Local on Azure Local">
      <a:dk1>
        <a:srgbClr val="0F1B2D"/>
      </a:dk1>
      <a:lt1>
        <a:srgbClr val="F6F7F4"/>
      </a:lt1>
      <a:dk2>
        <a:srgbClr val="49525F"/>
      </a:dk2>
      <a:lt2>
        <a:srgbClr val="DFE1E0"/>
      </a:lt2>
      <a:accent1>
        <a:srgbClr val="2F6FEB"/>
      </a:accent1>
      <a:accent2>
        <a:srgbClr val="33415C"/>
      </a:accent2>
      <a:accent3>
        <a:srgbClr val="7FA8F5"/>
      </a:accent3>
      <a:accent4>
        <a:srgbClr val="B85A14"/>
      </a:accent4>
      <a:accent5>
        <a:srgbClr val="4A5568"/>
      </a:accent5>
      <a:accent6>
        <a:srgbClr val="BFCBDA"/>
      </a:accent6>
      <a:hlink>
        <a:srgbClr val="0563C1"/>
      </a:hlink>
      <a:folHlink>
        <a:srgbClr val="954F72"/>
      </a:folHlink>
    </a:clrScheme>
    <a:fontScheme name="Foundry Local on Azure Local">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Foundry Local on Azure Local</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2026-10-27T19:16:43Z</dcterms:created>
  <dcterms:modified xsi:type="dcterms:W3CDTF">2026-10-27T19:16:43Z</dcterms:modified>
</cp:coreProperties>
</file>